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5E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4"/>
    <p:restoredTop sz="94722"/>
  </p:normalViewPr>
  <p:slideViewPr>
    <p:cSldViewPr>
      <p:cViewPr>
        <p:scale>
          <a:sx n="140" d="100"/>
          <a:sy n="140" d="100"/>
        </p:scale>
        <p:origin x="2024" y="4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object 76">
            <a:extLst>
              <a:ext uri="{FF2B5EF4-FFF2-40B4-BE49-F238E27FC236}">
                <a16:creationId xmlns:a16="http://schemas.microsoft.com/office/drawing/2014/main" id="{8F4426A9-413B-BA54-8C5E-3EDEA900E094}"/>
              </a:ext>
            </a:extLst>
          </p:cNvPr>
          <p:cNvSpPr/>
          <p:nvPr/>
        </p:nvSpPr>
        <p:spPr>
          <a:xfrm>
            <a:off x="379095" y="8623300"/>
            <a:ext cx="6798309" cy="1830197"/>
          </a:xfrm>
          <a:custGeom>
            <a:avLst/>
            <a:gdLst/>
            <a:ahLst/>
            <a:cxnLst/>
            <a:rect l="l" t="t" r="r" b="b"/>
            <a:pathLst>
              <a:path w="6798309" h="1333500">
                <a:moveTo>
                  <a:pt x="127000" y="1333499"/>
                </a:moveTo>
                <a:lnTo>
                  <a:pt x="6671000" y="1333499"/>
                </a:lnTo>
                <a:lnTo>
                  <a:pt x="6720461" y="1323528"/>
                </a:lnTo>
                <a:lnTo>
                  <a:pt x="6760827" y="1296327"/>
                </a:lnTo>
                <a:lnTo>
                  <a:pt x="6788029" y="1255961"/>
                </a:lnTo>
                <a:lnTo>
                  <a:pt x="6798000" y="1206499"/>
                </a:lnTo>
                <a:lnTo>
                  <a:pt x="6798000" y="126999"/>
                </a:lnTo>
                <a:lnTo>
                  <a:pt x="6788029" y="77538"/>
                </a:lnTo>
                <a:lnTo>
                  <a:pt x="6760827" y="37172"/>
                </a:lnTo>
                <a:lnTo>
                  <a:pt x="6720461" y="9971"/>
                </a:lnTo>
                <a:lnTo>
                  <a:pt x="6671000" y="0"/>
                </a:ln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6999"/>
                </a:lnTo>
                <a:lnTo>
                  <a:pt x="0" y="1206499"/>
                </a:lnTo>
                <a:lnTo>
                  <a:pt x="9971" y="1255961"/>
                </a:lnTo>
                <a:lnTo>
                  <a:pt x="37172" y="1296327"/>
                </a:lnTo>
                <a:lnTo>
                  <a:pt x="77538" y="1323528"/>
                </a:lnTo>
                <a:lnTo>
                  <a:pt x="127000" y="1333499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 w="6350">
            <a:solidFill>
              <a:srgbClr val="D3D1C6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381000" y="79209"/>
            <a:ext cx="6798308" cy="898964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1300" b="1" dirty="0">
                <a:solidFill>
                  <a:srgbClr val="2B2B2A"/>
                </a:solidFill>
                <a:latin typeface="Helvetica"/>
                <a:cs typeface="Helvetica"/>
              </a:rPr>
              <a:t>Thesis</a:t>
            </a:r>
            <a:r>
              <a:rPr sz="1300" b="1" spc="-45" dirty="0">
                <a:solidFill>
                  <a:srgbClr val="2B2B2A"/>
                </a:solidFill>
                <a:latin typeface="Helvetica"/>
                <a:cs typeface="Helvetica"/>
              </a:rPr>
              <a:t> </a:t>
            </a:r>
            <a:r>
              <a:rPr sz="1300" b="1" spc="-10" dirty="0">
                <a:solidFill>
                  <a:srgbClr val="2B2B2A"/>
                </a:solidFill>
                <a:latin typeface="Helvetica"/>
                <a:cs typeface="Helvetica"/>
              </a:rPr>
              <a:t>outline</a:t>
            </a:r>
            <a:endParaRPr sz="1300" dirty="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100" b="1" dirty="0">
                <a:solidFill>
                  <a:srgbClr val="5E5D59"/>
                </a:solidFill>
                <a:latin typeface="Helvetica"/>
                <a:cs typeface="Helvetica"/>
              </a:rPr>
              <a:t>Federated</a:t>
            </a:r>
            <a:r>
              <a:rPr sz="1100" b="1" spc="-2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dirty="0">
                <a:solidFill>
                  <a:srgbClr val="5E5D59"/>
                </a:solidFill>
                <a:latin typeface="Helvetica"/>
                <a:cs typeface="Helvetica"/>
              </a:rPr>
              <a:t>Learning</a:t>
            </a:r>
            <a:r>
              <a:rPr sz="1100" b="1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dirty="0">
                <a:solidFill>
                  <a:srgbClr val="5E5D59"/>
                </a:solidFill>
                <a:latin typeface="Helvetica"/>
                <a:cs typeface="Helvetica"/>
              </a:rPr>
              <a:t>in</a:t>
            </a:r>
            <a:r>
              <a:rPr sz="1100" b="1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dirty="0">
                <a:solidFill>
                  <a:srgbClr val="5E5D59"/>
                </a:solidFill>
                <a:latin typeface="Helvetica"/>
                <a:cs typeface="Helvetica"/>
              </a:rPr>
              <a:t>Ambienti</a:t>
            </a:r>
            <a:r>
              <a:rPr sz="1100" b="1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dirty="0">
                <a:solidFill>
                  <a:srgbClr val="5E5D59"/>
                </a:solidFill>
                <a:latin typeface="Helvetica"/>
                <a:cs typeface="Helvetica"/>
              </a:rPr>
              <a:t>Dinamici</a:t>
            </a:r>
            <a:r>
              <a:rPr sz="1100" b="1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dirty="0">
                <a:solidFill>
                  <a:srgbClr val="5E5D59"/>
                </a:solidFill>
                <a:latin typeface="Helvetica"/>
                <a:cs typeface="Helvetica"/>
              </a:rPr>
              <a:t>ed</a:t>
            </a:r>
            <a:r>
              <a:rPr sz="1100" b="1" spc="-2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dirty="0">
                <a:solidFill>
                  <a:srgbClr val="5E5D59"/>
                </a:solidFill>
                <a:latin typeface="Helvetica"/>
                <a:cs typeface="Helvetica"/>
              </a:rPr>
              <a:t>Eterogenei</a:t>
            </a:r>
            <a:r>
              <a:rPr sz="1100" b="1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dirty="0">
                <a:solidFill>
                  <a:srgbClr val="5E5D59"/>
                </a:solidFill>
                <a:latin typeface="Helvetica"/>
                <a:cs typeface="Helvetica"/>
              </a:rPr>
              <a:t>per</a:t>
            </a:r>
            <a:r>
              <a:rPr sz="1100" b="1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dirty="0">
                <a:solidFill>
                  <a:srgbClr val="5E5D59"/>
                </a:solidFill>
                <a:latin typeface="Helvetica"/>
                <a:cs typeface="Helvetica"/>
              </a:rPr>
              <a:t>la</a:t>
            </a:r>
            <a:r>
              <a:rPr sz="1100" b="1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dirty="0">
                <a:solidFill>
                  <a:srgbClr val="5E5D59"/>
                </a:solidFill>
                <a:latin typeface="Helvetica"/>
                <a:cs typeface="Helvetica"/>
              </a:rPr>
              <a:t>Sanità</a:t>
            </a:r>
            <a:r>
              <a:rPr sz="1100" b="1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dirty="0" err="1">
                <a:solidFill>
                  <a:srgbClr val="5E5D59"/>
                </a:solidFill>
                <a:latin typeface="Helvetica"/>
                <a:cs typeface="Helvetica"/>
              </a:rPr>
              <a:t>Digitale</a:t>
            </a:r>
            <a:r>
              <a:rPr sz="1100" b="1" spc="-2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1100" b="1" spc="-10" dirty="0">
                <a:solidFill>
                  <a:srgbClr val="5E5D59"/>
                </a:solidFill>
                <a:latin typeface="Helvetica"/>
                <a:cs typeface="Helvetica"/>
              </a:rPr>
              <a:t>Europea</a:t>
            </a:r>
            <a:r>
              <a:rPr lang="it-IT" sz="1100" b="1" spc="-10" dirty="0">
                <a:solidFill>
                  <a:srgbClr val="5E5D59"/>
                </a:solidFill>
                <a:latin typeface="Helvetica"/>
                <a:cs typeface="Helvetica"/>
              </a:rPr>
              <a:t>: dal Framework Teorico all’</a:t>
            </a:r>
            <a:r>
              <a:rPr lang="it-IT" sz="1100" b="1" spc="-10" dirty="0" err="1">
                <a:solidFill>
                  <a:srgbClr val="5E5D59"/>
                </a:solidFill>
                <a:latin typeface="Helvetica"/>
                <a:cs typeface="Helvetica"/>
              </a:rPr>
              <a:t>implementaizone</a:t>
            </a:r>
            <a:r>
              <a:rPr lang="it-IT" sz="1100" b="1" spc="-10" dirty="0">
                <a:solidFill>
                  <a:srgbClr val="5E5D59"/>
                </a:solidFill>
                <a:latin typeface="Helvetica"/>
                <a:cs typeface="Helvetica"/>
              </a:rPr>
              <a:t> negli Ospedali Italiani</a:t>
            </a:r>
            <a:endParaRPr sz="1100" b="1" dirty="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Fabio</a:t>
            </a:r>
            <a:r>
              <a:rPr sz="800" spc="-2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Liberti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—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Dottorato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Ciclo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XXXVIII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—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Universitas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Mercatorum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/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Blekinge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Institute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dirty="0">
                <a:solidFill>
                  <a:srgbClr val="5E5D59"/>
                </a:solidFill>
                <a:latin typeface="Helvetica"/>
                <a:cs typeface="Helvetica"/>
              </a:rPr>
              <a:t>of</a:t>
            </a:r>
            <a:r>
              <a:rPr sz="800" spc="-2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800" spc="-10" dirty="0">
                <a:solidFill>
                  <a:srgbClr val="5E5D59"/>
                </a:solidFill>
                <a:latin typeface="Helvetica"/>
                <a:cs typeface="Helvetica"/>
              </a:rPr>
              <a:t>Technology</a:t>
            </a:r>
            <a:endParaRPr sz="800" dirty="0">
              <a:latin typeface="Helvetica"/>
              <a:cs typeface="Helvetic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2825" y="1282700"/>
            <a:ext cx="133350" cy="1333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1100" y="1279526"/>
            <a:ext cx="64516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444441"/>
                </a:solidFill>
                <a:latin typeface="Helvetica"/>
                <a:cs typeface="Helvetica"/>
              </a:rPr>
              <a:t>RQ1</a:t>
            </a:r>
            <a:r>
              <a:rPr sz="650" spc="-1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650" spc="-10" dirty="0">
                <a:solidFill>
                  <a:srgbClr val="444441"/>
                </a:solidFill>
                <a:latin typeface="Helvetica"/>
                <a:cs typeface="Helvetica"/>
              </a:rPr>
              <a:t>Technology</a:t>
            </a:r>
            <a:endParaRPr sz="650" dirty="0">
              <a:latin typeface="Helvetica"/>
              <a:cs typeface="Helvetic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2825" y="1282700"/>
            <a:ext cx="133350" cy="1333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51100" y="1279526"/>
            <a:ext cx="66802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444441"/>
                </a:solidFill>
                <a:latin typeface="Helvetica"/>
                <a:cs typeface="Helvetica"/>
              </a:rPr>
              <a:t>RQ2</a:t>
            </a:r>
            <a:r>
              <a:rPr sz="650" spc="-1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650" spc="-10" dirty="0">
                <a:solidFill>
                  <a:srgbClr val="444441"/>
                </a:solidFill>
                <a:latin typeface="Helvetica"/>
                <a:cs typeface="Helvetica"/>
              </a:rPr>
              <a:t>Governance</a:t>
            </a:r>
            <a:endParaRPr sz="650">
              <a:latin typeface="Helvetica"/>
              <a:cs typeface="Helvetic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52825" y="1282700"/>
            <a:ext cx="133350" cy="1333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21100" y="1279526"/>
            <a:ext cx="54419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444441"/>
                </a:solidFill>
                <a:latin typeface="Helvetica"/>
                <a:cs typeface="Helvetica"/>
              </a:rPr>
              <a:t>RQ3</a:t>
            </a:r>
            <a:r>
              <a:rPr sz="650" spc="-1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650" spc="-10" dirty="0">
                <a:solidFill>
                  <a:srgbClr val="444441"/>
                </a:solidFill>
                <a:latin typeface="Helvetica"/>
                <a:cs typeface="Helvetica"/>
              </a:rPr>
              <a:t>Adoption</a:t>
            </a:r>
            <a:endParaRPr sz="650">
              <a:latin typeface="Helvetica"/>
              <a:cs typeface="Helvetic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22825" y="1282700"/>
            <a:ext cx="133350" cy="1333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991100" y="1279526"/>
            <a:ext cx="76009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444441"/>
                </a:solidFill>
                <a:latin typeface="Helvetica"/>
                <a:cs typeface="Helvetica"/>
              </a:rPr>
              <a:t>RQ4</a:t>
            </a:r>
            <a:r>
              <a:rPr sz="650" spc="-1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650" spc="-10" dirty="0">
                <a:solidFill>
                  <a:srgbClr val="444441"/>
                </a:solidFill>
                <a:latin typeface="Helvetica"/>
                <a:cs typeface="Helvetica"/>
              </a:rPr>
              <a:t>Interoperability</a:t>
            </a:r>
            <a:endParaRPr sz="650">
              <a:latin typeface="Helvetica"/>
              <a:cs typeface="Helvetic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2825" y="1282700"/>
            <a:ext cx="133350" cy="1333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261100" y="1279526"/>
            <a:ext cx="3054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444441"/>
                </a:solidFill>
                <a:latin typeface="Helvetica"/>
                <a:cs typeface="Helvetica"/>
              </a:rPr>
              <a:t>All</a:t>
            </a:r>
            <a:r>
              <a:rPr sz="650" spc="-25" dirty="0">
                <a:solidFill>
                  <a:srgbClr val="444441"/>
                </a:solidFill>
                <a:latin typeface="Helvetica"/>
                <a:cs typeface="Helvetica"/>
              </a:rPr>
              <a:t> RQs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1000" y="1482725"/>
            <a:ext cx="6798309" cy="1333500"/>
          </a:xfrm>
          <a:custGeom>
            <a:avLst/>
            <a:gdLst/>
            <a:ahLst/>
            <a:cxnLst/>
            <a:rect l="l" t="t" r="r" b="b"/>
            <a:pathLst>
              <a:path w="6798309" h="1333500">
                <a:moveTo>
                  <a:pt x="127000" y="1333500"/>
                </a:moveTo>
                <a:lnTo>
                  <a:pt x="6671000" y="1333500"/>
                </a:lnTo>
                <a:lnTo>
                  <a:pt x="6720461" y="1323528"/>
                </a:lnTo>
                <a:lnTo>
                  <a:pt x="6760827" y="1296327"/>
                </a:lnTo>
                <a:lnTo>
                  <a:pt x="6788029" y="1255961"/>
                </a:lnTo>
                <a:lnTo>
                  <a:pt x="6798000" y="1206500"/>
                </a:lnTo>
                <a:lnTo>
                  <a:pt x="6798000" y="127000"/>
                </a:lnTo>
                <a:lnTo>
                  <a:pt x="6788029" y="77538"/>
                </a:lnTo>
                <a:lnTo>
                  <a:pt x="6760827" y="37172"/>
                </a:lnTo>
                <a:lnTo>
                  <a:pt x="6720461" y="9971"/>
                </a:lnTo>
                <a:lnTo>
                  <a:pt x="6671000" y="0"/>
                </a:ln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1206500"/>
                </a:lnTo>
                <a:lnTo>
                  <a:pt x="9971" y="1255961"/>
                </a:lnTo>
                <a:lnTo>
                  <a:pt x="37172" y="1296327"/>
                </a:lnTo>
                <a:lnTo>
                  <a:pt x="77538" y="1323528"/>
                </a:lnTo>
                <a:lnTo>
                  <a:pt x="127000" y="1333500"/>
                </a:lnTo>
                <a:close/>
              </a:path>
            </a:pathLst>
          </a:custGeom>
          <a:ln w="6350">
            <a:solidFill>
              <a:srgbClr val="D3D1C6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91324" y="1533526"/>
            <a:ext cx="2377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Part I — Fondamenti teorici e stato </a:t>
            </a:r>
            <a:r>
              <a:rPr sz="900" b="1" spc="-10" dirty="0">
                <a:solidFill>
                  <a:srgbClr val="444441"/>
                </a:solidFill>
                <a:latin typeface="Helvetica"/>
                <a:cs typeface="Helvetica"/>
              </a:rPr>
              <a:t>dell'arte</a:t>
            </a:r>
            <a:endParaRPr sz="900">
              <a:latin typeface="Helvetica"/>
              <a:cs typeface="Helvetic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3555" y="1833880"/>
            <a:ext cx="2105660" cy="440690"/>
            <a:chOff x="503555" y="1557654"/>
            <a:chExt cx="2105660" cy="440690"/>
          </a:xfrm>
        </p:grpSpPr>
        <p:sp>
          <p:nvSpPr>
            <p:cNvPr id="16" name="object 16"/>
            <p:cNvSpPr/>
            <p:nvPr/>
          </p:nvSpPr>
          <p:spPr>
            <a:xfrm>
              <a:off x="508000" y="15620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2020467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lnTo>
                    <a:pt x="2020467" y="431800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600"/>
                  </a:lnTo>
                  <a:lnTo>
                    <a:pt x="2096667" y="76200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close/>
                </a:path>
              </a:pathLst>
            </a:custGeom>
            <a:solidFill>
              <a:srgbClr val="F0E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8000" y="15620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76200" y="431800"/>
                  </a:moveTo>
                  <a:lnTo>
                    <a:pt x="2020467" y="431800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600"/>
                  </a:lnTo>
                  <a:lnTo>
                    <a:pt x="2096667" y="76200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close/>
                </a:path>
              </a:pathLst>
            </a:custGeom>
            <a:ln w="8890">
              <a:solidFill>
                <a:srgbClr val="5E5D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90421" y="1847978"/>
            <a:ext cx="1132205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900" b="1" spc="-50" dirty="0">
                <a:solidFill>
                  <a:srgbClr val="444441"/>
                </a:solidFill>
                <a:latin typeface="Helvetica"/>
                <a:cs typeface="Helvetica"/>
              </a:rPr>
              <a:t>1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750" dirty="0">
                <a:solidFill>
                  <a:srgbClr val="444441"/>
                </a:solidFill>
                <a:latin typeface="Helvetica"/>
                <a:cs typeface="Helvetica"/>
              </a:rPr>
              <a:t>Introduzione e </a:t>
            </a:r>
            <a:r>
              <a:rPr sz="750" spc="-10" dirty="0">
                <a:solidFill>
                  <a:srgbClr val="444441"/>
                </a:solidFill>
                <a:latin typeface="Helvetica"/>
                <a:cs typeface="Helvetica"/>
              </a:rPr>
              <a:t>motivazioni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44636" y="2308226"/>
            <a:ext cx="4235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Trasversale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701822" y="1833880"/>
            <a:ext cx="2105660" cy="440690"/>
            <a:chOff x="2701822" y="1557654"/>
            <a:chExt cx="2105660" cy="440690"/>
          </a:xfrm>
        </p:grpSpPr>
        <p:sp>
          <p:nvSpPr>
            <p:cNvPr id="21" name="object 21"/>
            <p:cNvSpPr/>
            <p:nvPr/>
          </p:nvSpPr>
          <p:spPr>
            <a:xfrm>
              <a:off x="2706267" y="15620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2020465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lnTo>
                    <a:pt x="2020465" y="431800"/>
                  </a:lnTo>
                  <a:lnTo>
                    <a:pt x="2050142" y="425817"/>
                  </a:lnTo>
                  <a:lnTo>
                    <a:pt x="2074362" y="409496"/>
                  </a:lnTo>
                  <a:lnTo>
                    <a:pt x="2090683" y="385277"/>
                  </a:lnTo>
                  <a:lnTo>
                    <a:pt x="2096665" y="355600"/>
                  </a:lnTo>
                  <a:lnTo>
                    <a:pt x="2096665" y="76200"/>
                  </a:lnTo>
                  <a:lnTo>
                    <a:pt x="2090683" y="46522"/>
                  </a:lnTo>
                  <a:lnTo>
                    <a:pt x="2074362" y="22303"/>
                  </a:lnTo>
                  <a:lnTo>
                    <a:pt x="2050142" y="5982"/>
                  </a:lnTo>
                  <a:lnTo>
                    <a:pt x="2020465" y="0"/>
                  </a:lnTo>
                  <a:close/>
                </a:path>
              </a:pathLst>
            </a:custGeom>
            <a:solidFill>
              <a:srgbClr val="E6F0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06267" y="15620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76200" y="431800"/>
                  </a:moveTo>
                  <a:lnTo>
                    <a:pt x="2020465" y="431800"/>
                  </a:lnTo>
                  <a:lnTo>
                    <a:pt x="2050142" y="425817"/>
                  </a:lnTo>
                  <a:lnTo>
                    <a:pt x="2074362" y="409496"/>
                  </a:lnTo>
                  <a:lnTo>
                    <a:pt x="2090683" y="385277"/>
                  </a:lnTo>
                  <a:lnTo>
                    <a:pt x="2096665" y="355600"/>
                  </a:lnTo>
                  <a:lnTo>
                    <a:pt x="2096665" y="76200"/>
                  </a:lnTo>
                  <a:lnTo>
                    <a:pt x="2090683" y="46522"/>
                  </a:lnTo>
                  <a:lnTo>
                    <a:pt x="2074362" y="22303"/>
                  </a:lnTo>
                  <a:lnTo>
                    <a:pt x="2050142" y="5982"/>
                  </a:lnTo>
                  <a:lnTo>
                    <a:pt x="2020465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close/>
                </a:path>
              </a:pathLst>
            </a:custGeom>
            <a:ln w="8890">
              <a:solidFill>
                <a:srgbClr val="185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223073" y="1847978"/>
            <a:ext cx="1063625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0C447C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0C447C"/>
                </a:solidFill>
                <a:latin typeface="Helvetica"/>
                <a:cs typeface="Helvetica"/>
              </a:rPr>
              <a:t> </a:t>
            </a:r>
            <a:r>
              <a:rPr sz="900" b="1" spc="-50" dirty="0">
                <a:solidFill>
                  <a:srgbClr val="0C447C"/>
                </a:solidFill>
                <a:latin typeface="Helvetica"/>
                <a:cs typeface="Helvetica"/>
              </a:rPr>
              <a:t>2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750" dirty="0">
                <a:solidFill>
                  <a:srgbClr val="0C447C"/>
                </a:solidFill>
                <a:latin typeface="Helvetica"/>
                <a:cs typeface="Helvetica"/>
              </a:rPr>
              <a:t>FL nel</a:t>
            </a:r>
            <a:r>
              <a:rPr sz="750" spc="5" dirty="0">
                <a:solidFill>
                  <a:srgbClr val="0C447C"/>
                </a:solidFill>
                <a:latin typeface="Helvetica"/>
                <a:cs typeface="Helvetica"/>
              </a:rPr>
              <a:t> </a:t>
            </a:r>
            <a:r>
              <a:rPr sz="750" dirty="0">
                <a:solidFill>
                  <a:srgbClr val="0C447C"/>
                </a:solidFill>
                <a:latin typeface="Helvetica"/>
                <a:cs typeface="Helvetica"/>
              </a:rPr>
              <a:t>contesto </a:t>
            </a:r>
            <a:r>
              <a:rPr sz="750" spc="-10" dirty="0">
                <a:solidFill>
                  <a:srgbClr val="0C447C"/>
                </a:solidFill>
                <a:latin typeface="Helvetica"/>
                <a:cs typeface="Helvetica"/>
              </a:rPr>
              <a:t>sanitario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77295" y="2308226"/>
            <a:ext cx="55499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P-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M</a:t>
            </a:r>
            <a:r>
              <a:rPr sz="600" spc="1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·</a:t>
            </a:r>
            <a:r>
              <a:rPr sz="600" spc="1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FL-</a:t>
            </a:r>
            <a:r>
              <a:rPr sz="600" spc="-20" dirty="0">
                <a:solidFill>
                  <a:srgbClr val="878780"/>
                </a:solidFill>
                <a:latin typeface="Helvetica"/>
                <a:cs typeface="Helvetica"/>
              </a:rPr>
              <a:t>EHDS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900088" y="1833880"/>
            <a:ext cx="2105660" cy="440690"/>
            <a:chOff x="4900088" y="1557654"/>
            <a:chExt cx="2105660" cy="440690"/>
          </a:xfrm>
        </p:grpSpPr>
        <p:sp>
          <p:nvSpPr>
            <p:cNvPr id="26" name="object 26"/>
            <p:cNvSpPr/>
            <p:nvPr/>
          </p:nvSpPr>
          <p:spPr>
            <a:xfrm>
              <a:off x="4904533" y="15620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2020467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lnTo>
                    <a:pt x="2020467" y="431800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600"/>
                  </a:lnTo>
                  <a:lnTo>
                    <a:pt x="2096667" y="76200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close/>
                </a:path>
              </a:pathLst>
            </a:custGeom>
            <a:solidFill>
              <a:srgbClr val="F9EB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04533" y="15620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76200" y="431800"/>
                  </a:moveTo>
                  <a:lnTo>
                    <a:pt x="2020467" y="431800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600"/>
                  </a:lnTo>
                  <a:lnTo>
                    <a:pt x="2096667" y="76200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close/>
                </a:path>
              </a:pathLst>
            </a:custGeom>
            <a:ln w="8890">
              <a:solidFill>
                <a:srgbClr val="993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265272" y="1847978"/>
            <a:ext cx="1375410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702A13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702A13"/>
                </a:solidFill>
                <a:latin typeface="Helvetica"/>
                <a:cs typeface="Helvetica"/>
              </a:rPr>
              <a:t> </a:t>
            </a:r>
            <a:r>
              <a:rPr sz="900" b="1" spc="-50" dirty="0">
                <a:solidFill>
                  <a:srgbClr val="702A13"/>
                </a:solidFill>
                <a:latin typeface="Helvetica"/>
                <a:cs typeface="Helvetica"/>
              </a:rPr>
              <a:t>3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750" dirty="0">
                <a:solidFill>
                  <a:srgbClr val="702A13"/>
                </a:solidFill>
                <a:latin typeface="Helvetica"/>
                <a:cs typeface="Helvetica"/>
              </a:rPr>
              <a:t>Standard e framework </a:t>
            </a:r>
            <a:r>
              <a:rPr sz="750" spc="-10" dirty="0">
                <a:solidFill>
                  <a:srgbClr val="702A13"/>
                </a:solidFill>
                <a:latin typeface="Helvetica"/>
                <a:cs typeface="Helvetica"/>
              </a:rPr>
              <a:t>normativi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60220" y="2308226"/>
            <a:ext cx="3854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P-IT ·</a:t>
            </a:r>
            <a:r>
              <a:rPr sz="600" spc="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spc="-20" dirty="0">
                <a:solidFill>
                  <a:srgbClr val="878780"/>
                </a:solidFill>
                <a:latin typeface="Helvetica"/>
                <a:cs typeface="Helvetica"/>
              </a:rPr>
              <a:t>ICID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77825" y="2837180"/>
            <a:ext cx="6804659" cy="1518920"/>
            <a:chOff x="377825" y="2560954"/>
            <a:chExt cx="6804659" cy="1518920"/>
          </a:xfrm>
        </p:grpSpPr>
        <p:sp>
          <p:nvSpPr>
            <p:cNvPr id="31" name="object 31"/>
            <p:cNvSpPr/>
            <p:nvPr/>
          </p:nvSpPr>
          <p:spPr>
            <a:xfrm>
              <a:off x="3760217" y="2565399"/>
              <a:ext cx="40005" cy="127000"/>
            </a:xfrm>
            <a:custGeom>
              <a:avLst/>
              <a:gdLst/>
              <a:ahLst/>
              <a:cxnLst/>
              <a:rect l="l" t="t" r="r" b="b"/>
              <a:pathLst>
                <a:path w="40004" h="127000">
                  <a:moveTo>
                    <a:pt x="19782" y="0"/>
                  </a:moveTo>
                  <a:lnTo>
                    <a:pt x="19782" y="127000"/>
                  </a:lnTo>
                </a:path>
                <a:path w="40004" h="127000">
                  <a:moveTo>
                    <a:pt x="19782" y="127000"/>
                  </a:moveTo>
                  <a:lnTo>
                    <a:pt x="39565" y="80210"/>
                  </a:lnTo>
                </a:path>
                <a:path w="40004" h="127000">
                  <a:moveTo>
                    <a:pt x="19782" y="127000"/>
                  </a:moveTo>
                  <a:lnTo>
                    <a:pt x="0" y="80210"/>
                  </a:lnTo>
                </a:path>
              </a:pathLst>
            </a:custGeom>
            <a:ln w="8890">
              <a:solidFill>
                <a:srgbClr val="878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1000" y="2743199"/>
              <a:ext cx="6798309" cy="1333500"/>
            </a:xfrm>
            <a:custGeom>
              <a:avLst/>
              <a:gdLst/>
              <a:ahLst/>
              <a:cxnLst/>
              <a:rect l="l" t="t" r="r" b="b"/>
              <a:pathLst>
                <a:path w="6798309" h="1333500">
                  <a:moveTo>
                    <a:pt x="127000" y="1333500"/>
                  </a:moveTo>
                  <a:lnTo>
                    <a:pt x="6671000" y="1333500"/>
                  </a:lnTo>
                  <a:lnTo>
                    <a:pt x="6720461" y="1323528"/>
                  </a:lnTo>
                  <a:lnTo>
                    <a:pt x="6760827" y="1296327"/>
                  </a:lnTo>
                  <a:lnTo>
                    <a:pt x="6788029" y="1255961"/>
                  </a:lnTo>
                  <a:lnTo>
                    <a:pt x="6798000" y="1206500"/>
                  </a:lnTo>
                  <a:lnTo>
                    <a:pt x="6798000" y="127000"/>
                  </a:lnTo>
                  <a:lnTo>
                    <a:pt x="6788029" y="77538"/>
                  </a:lnTo>
                  <a:lnTo>
                    <a:pt x="6760827" y="37172"/>
                  </a:lnTo>
                  <a:lnTo>
                    <a:pt x="6720461" y="9971"/>
                  </a:lnTo>
                  <a:lnTo>
                    <a:pt x="6671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1206500"/>
                  </a:lnTo>
                  <a:lnTo>
                    <a:pt x="9971" y="1255961"/>
                  </a:lnTo>
                  <a:lnTo>
                    <a:pt x="37172" y="1296327"/>
                  </a:lnTo>
                  <a:lnTo>
                    <a:pt x="77538" y="1323528"/>
                  </a:lnTo>
                  <a:lnTo>
                    <a:pt x="127000" y="1333500"/>
                  </a:lnTo>
                  <a:close/>
                </a:path>
              </a:pathLst>
            </a:custGeom>
            <a:ln w="6350">
              <a:solidFill>
                <a:srgbClr val="D3D1C6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465308" y="3070226"/>
            <a:ext cx="262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Part</a:t>
            </a:r>
            <a:r>
              <a:rPr sz="900" b="1" spc="-10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II</a:t>
            </a:r>
            <a:r>
              <a:rPr sz="900" b="1" spc="-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—</a:t>
            </a:r>
            <a:r>
              <a:rPr sz="900" b="1" spc="-10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Contributi</a:t>
            </a:r>
            <a:r>
              <a:rPr sz="900" b="1" spc="-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metodologici</a:t>
            </a:r>
            <a:r>
              <a:rPr sz="900" b="1" spc="-10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e</a:t>
            </a:r>
            <a:r>
              <a:rPr sz="900" b="1" spc="-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900" b="1" spc="-10" dirty="0">
                <a:solidFill>
                  <a:srgbClr val="444441"/>
                </a:solidFill>
                <a:latin typeface="Helvetica"/>
                <a:cs typeface="Helvetica"/>
              </a:rPr>
              <a:t>architetturali</a:t>
            </a:r>
            <a:endParaRPr sz="900">
              <a:latin typeface="Helvetica"/>
              <a:cs typeface="Helvetic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03555" y="3370580"/>
            <a:ext cx="2105660" cy="440690"/>
            <a:chOff x="503555" y="3094354"/>
            <a:chExt cx="2105660" cy="440690"/>
          </a:xfrm>
        </p:grpSpPr>
        <p:sp>
          <p:nvSpPr>
            <p:cNvPr id="35" name="object 35"/>
            <p:cNvSpPr/>
            <p:nvPr/>
          </p:nvSpPr>
          <p:spPr>
            <a:xfrm>
              <a:off x="508000" y="30987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2020467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lnTo>
                    <a:pt x="2020467" y="431800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600"/>
                  </a:lnTo>
                  <a:lnTo>
                    <a:pt x="2096667" y="76200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close/>
                </a:path>
              </a:pathLst>
            </a:custGeom>
            <a:solidFill>
              <a:srgbClr val="E6F0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08000" y="30987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76200" y="431800"/>
                  </a:moveTo>
                  <a:lnTo>
                    <a:pt x="2020467" y="431800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600"/>
                  </a:lnTo>
                  <a:lnTo>
                    <a:pt x="2096667" y="76200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close/>
                </a:path>
              </a:pathLst>
            </a:custGeom>
            <a:ln w="8890">
              <a:solidFill>
                <a:srgbClr val="185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80527" y="3384677"/>
            <a:ext cx="951865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0C447C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0C447C"/>
                </a:solidFill>
                <a:latin typeface="Helvetica"/>
                <a:cs typeface="Helvetica"/>
              </a:rPr>
              <a:t> </a:t>
            </a:r>
            <a:r>
              <a:rPr sz="900" b="1" spc="-50" dirty="0">
                <a:solidFill>
                  <a:srgbClr val="0C447C"/>
                </a:solidFill>
                <a:latin typeface="Helvetica"/>
                <a:cs typeface="Helvetica"/>
              </a:rPr>
              <a:t>4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750" dirty="0">
                <a:solidFill>
                  <a:srgbClr val="0C447C"/>
                </a:solidFill>
                <a:latin typeface="Helvetica"/>
                <a:cs typeface="Helvetica"/>
              </a:rPr>
              <a:t>Framework teorico </a:t>
            </a:r>
            <a:r>
              <a:rPr sz="750" spc="-25" dirty="0">
                <a:solidFill>
                  <a:srgbClr val="0C447C"/>
                </a:solidFill>
                <a:latin typeface="Helvetica"/>
                <a:cs typeface="Helvetica"/>
              </a:rPr>
              <a:t>FL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94294" y="3809366"/>
            <a:ext cx="724535" cy="279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P-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M</a:t>
            </a:r>
            <a:r>
              <a:rPr sz="600" spc="1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·</a:t>
            </a:r>
            <a:r>
              <a:rPr sz="600" spc="1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FL-</a:t>
            </a:r>
            <a:r>
              <a:rPr sz="600" spc="-20" dirty="0">
                <a:solidFill>
                  <a:srgbClr val="878780"/>
                </a:solidFill>
                <a:latin typeface="Helvetica"/>
                <a:cs typeface="Helvetica"/>
              </a:rPr>
              <a:t>EHDS</a:t>
            </a:r>
            <a:endParaRPr sz="6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600" i="1" dirty="0">
                <a:solidFill>
                  <a:srgbClr val="878780"/>
                </a:solidFill>
                <a:latin typeface="Helvetica"/>
                <a:cs typeface="Helvetica"/>
              </a:rPr>
              <a:t>FLOPBG</a:t>
            </a:r>
            <a:r>
              <a:rPr sz="600" i="1" spc="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i="1" dirty="0">
                <a:solidFill>
                  <a:srgbClr val="878780"/>
                </a:solidFill>
                <a:latin typeface="Helvetica"/>
                <a:cs typeface="Helvetica"/>
              </a:rPr>
              <a:t>·</a:t>
            </a:r>
            <a:r>
              <a:rPr sz="600" i="1" spc="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i="1" spc="-10" dirty="0">
                <a:solidFill>
                  <a:srgbClr val="878780"/>
                </a:solidFill>
                <a:latin typeface="Helvetica"/>
                <a:cs typeface="Helvetica"/>
              </a:rPr>
              <a:t>FL-</a:t>
            </a:r>
            <a:r>
              <a:rPr sz="600" i="1" spc="-20" dirty="0">
                <a:solidFill>
                  <a:srgbClr val="878780"/>
                </a:solidFill>
                <a:latin typeface="Helvetica"/>
                <a:cs typeface="Helvetica"/>
              </a:rPr>
              <a:t>EHDS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696786" y="3376931"/>
            <a:ext cx="2105660" cy="440690"/>
            <a:chOff x="2701822" y="3094354"/>
            <a:chExt cx="2105660" cy="440690"/>
          </a:xfrm>
        </p:grpSpPr>
        <p:sp>
          <p:nvSpPr>
            <p:cNvPr id="40" name="object 40"/>
            <p:cNvSpPr/>
            <p:nvPr/>
          </p:nvSpPr>
          <p:spPr>
            <a:xfrm>
              <a:off x="2706267" y="30987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2020465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lnTo>
                    <a:pt x="2020465" y="431800"/>
                  </a:lnTo>
                  <a:lnTo>
                    <a:pt x="2050142" y="425817"/>
                  </a:lnTo>
                  <a:lnTo>
                    <a:pt x="2074362" y="409496"/>
                  </a:lnTo>
                  <a:lnTo>
                    <a:pt x="2090683" y="385277"/>
                  </a:lnTo>
                  <a:lnTo>
                    <a:pt x="2096665" y="355600"/>
                  </a:lnTo>
                  <a:lnTo>
                    <a:pt x="2096665" y="76200"/>
                  </a:lnTo>
                  <a:lnTo>
                    <a:pt x="2090683" y="46522"/>
                  </a:lnTo>
                  <a:lnTo>
                    <a:pt x="2074362" y="22303"/>
                  </a:lnTo>
                  <a:lnTo>
                    <a:pt x="2050142" y="5982"/>
                  </a:lnTo>
                  <a:lnTo>
                    <a:pt x="2020465" y="0"/>
                  </a:lnTo>
                  <a:close/>
                </a:path>
              </a:pathLst>
            </a:custGeom>
            <a:solidFill>
              <a:srgbClr val="E6F0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object 41"/>
            <p:cNvSpPr/>
            <p:nvPr/>
          </p:nvSpPr>
          <p:spPr>
            <a:xfrm>
              <a:off x="2706267" y="30987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76200" y="431800"/>
                  </a:moveTo>
                  <a:lnTo>
                    <a:pt x="2020465" y="431800"/>
                  </a:lnTo>
                  <a:lnTo>
                    <a:pt x="2050142" y="425817"/>
                  </a:lnTo>
                  <a:lnTo>
                    <a:pt x="2074362" y="409496"/>
                  </a:lnTo>
                  <a:lnTo>
                    <a:pt x="2090683" y="385277"/>
                  </a:lnTo>
                  <a:lnTo>
                    <a:pt x="2096665" y="355600"/>
                  </a:lnTo>
                  <a:lnTo>
                    <a:pt x="2096665" y="76200"/>
                  </a:lnTo>
                  <a:lnTo>
                    <a:pt x="2090683" y="46522"/>
                  </a:lnTo>
                  <a:lnTo>
                    <a:pt x="2074362" y="22303"/>
                  </a:lnTo>
                  <a:lnTo>
                    <a:pt x="2050142" y="5982"/>
                  </a:lnTo>
                  <a:lnTo>
                    <a:pt x="2020465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close/>
                </a:path>
              </a:pathLst>
            </a:custGeom>
            <a:ln w="8890">
              <a:solidFill>
                <a:srgbClr val="185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318465" y="3384677"/>
            <a:ext cx="872490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0C447C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0C447C"/>
                </a:solidFill>
                <a:latin typeface="Helvetica"/>
                <a:cs typeface="Helvetica"/>
              </a:rPr>
              <a:t> </a:t>
            </a:r>
            <a:r>
              <a:rPr sz="900" b="1" spc="-50" dirty="0">
                <a:solidFill>
                  <a:srgbClr val="0C447C"/>
                </a:solidFill>
                <a:latin typeface="Helvetica"/>
                <a:cs typeface="Helvetica"/>
              </a:rPr>
              <a:t>5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750" dirty="0">
                <a:solidFill>
                  <a:srgbClr val="0C447C"/>
                </a:solidFill>
                <a:latin typeface="Helvetica"/>
                <a:cs typeface="Helvetica"/>
              </a:rPr>
              <a:t>FENITH</a:t>
            </a:r>
            <a:r>
              <a:rPr sz="750" spc="-30" dirty="0">
                <a:solidFill>
                  <a:srgbClr val="0C447C"/>
                </a:solidFill>
                <a:latin typeface="Helvetica"/>
                <a:cs typeface="Helvetica"/>
              </a:rPr>
              <a:t> </a:t>
            </a:r>
            <a:r>
              <a:rPr sz="750" spc="-10" dirty="0">
                <a:solidFill>
                  <a:srgbClr val="0C447C"/>
                </a:solidFill>
                <a:latin typeface="Helvetica"/>
                <a:cs typeface="Helvetica"/>
              </a:rPr>
              <a:t>architettura</a:t>
            </a:r>
            <a:endParaRPr sz="750">
              <a:latin typeface="Helvetica"/>
              <a:cs typeface="Helvetic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04532" y="3375025"/>
            <a:ext cx="2096770" cy="431800"/>
            <a:chOff x="4904532" y="3098799"/>
            <a:chExt cx="2096770" cy="431800"/>
          </a:xfrm>
        </p:grpSpPr>
        <p:sp>
          <p:nvSpPr>
            <p:cNvPr id="45" name="object 45"/>
            <p:cNvSpPr/>
            <p:nvPr/>
          </p:nvSpPr>
          <p:spPr>
            <a:xfrm>
              <a:off x="4904532" y="30987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2020467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lnTo>
                    <a:pt x="2020467" y="431800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600"/>
                  </a:lnTo>
                  <a:lnTo>
                    <a:pt x="2096667" y="76200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close/>
                </a:path>
              </a:pathLst>
            </a:custGeom>
            <a:solidFill>
              <a:srgbClr val="EDE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904532" y="30987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76200" y="431800"/>
                  </a:moveTo>
                  <a:lnTo>
                    <a:pt x="2020467" y="431800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600"/>
                  </a:lnTo>
                  <a:lnTo>
                    <a:pt x="2096667" y="76200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close/>
                </a:path>
              </a:pathLst>
            </a:custGeom>
            <a:ln w="8890">
              <a:solidFill>
                <a:srgbClr val="5249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470932" y="3809366"/>
            <a:ext cx="567690" cy="279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ICID</a:t>
            </a:r>
            <a:r>
              <a:rPr sz="600" spc="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·</a:t>
            </a:r>
            <a:r>
              <a:rPr sz="600" spc="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FL-</a:t>
            </a:r>
            <a:r>
              <a:rPr sz="600" spc="-20" dirty="0">
                <a:solidFill>
                  <a:srgbClr val="878780"/>
                </a:solidFill>
                <a:latin typeface="Helvetica"/>
                <a:cs typeface="Helvetica"/>
              </a:rPr>
              <a:t>EHDS</a:t>
            </a:r>
            <a:endParaRPr sz="6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600" i="1" spc="-10" dirty="0">
                <a:solidFill>
                  <a:srgbClr val="878780"/>
                </a:solidFill>
                <a:latin typeface="Helvetica"/>
                <a:cs typeface="Helvetica"/>
              </a:rPr>
              <a:t>FLOPBG</a:t>
            </a:r>
            <a:endParaRPr sz="600">
              <a:latin typeface="Helvetica"/>
              <a:cs typeface="Helvetic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47819" y="3384677"/>
            <a:ext cx="1010285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3B3489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3B3489"/>
                </a:solidFill>
                <a:latin typeface="Helvetica"/>
                <a:cs typeface="Helvetica"/>
              </a:rPr>
              <a:t> </a:t>
            </a:r>
            <a:r>
              <a:rPr sz="900" b="1" spc="-50" dirty="0">
                <a:solidFill>
                  <a:srgbClr val="3B3489"/>
                </a:solidFill>
                <a:latin typeface="Helvetica"/>
                <a:cs typeface="Helvetica"/>
              </a:rPr>
              <a:t>6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750" dirty="0">
                <a:solidFill>
                  <a:srgbClr val="3B3489"/>
                </a:solidFill>
                <a:latin typeface="Helvetica"/>
                <a:cs typeface="Helvetica"/>
              </a:rPr>
              <a:t>AIDIGOSA</a:t>
            </a:r>
            <a:r>
              <a:rPr sz="750" spc="-40" dirty="0">
                <a:solidFill>
                  <a:srgbClr val="3B3489"/>
                </a:solidFill>
                <a:latin typeface="Helvetica"/>
                <a:cs typeface="Helvetica"/>
              </a:rPr>
              <a:t> </a:t>
            </a:r>
            <a:r>
              <a:rPr sz="750" spc="-10" dirty="0">
                <a:solidFill>
                  <a:srgbClr val="3B3489"/>
                </a:solidFill>
                <a:latin typeface="Helvetica"/>
                <a:cs typeface="Helvetica"/>
              </a:rPr>
              <a:t>governance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669123" y="3809366"/>
            <a:ext cx="567690" cy="279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380"/>
              </a:spcBef>
            </a:pP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P-IT ·</a:t>
            </a:r>
            <a:r>
              <a:rPr sz="600" spc="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IFKAD</a:t>
            </a:r>
            <a:endParaRPr sz="6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600" i="1" dirty="0">
                <a:solidFill>
                  <a:srgbClr val="878780"/>
                </a:solidFill>
                <a:latin typeface="Helvetica"/>
                <a:cs typeface="Helvetica"/>
              </a:rPr>
              <a:t>AIDIGOSA </a:t>
            </a:r>
            <a:r>
              <a:rPr sz="600" i="1" spc="-20" dirty="0">
                <a:solidFill>
                  <a:srgbClr val="878780"/>
                </a:solidFill>
                <a:latin typeface="Helvetica"/>
                <a:cs typeface="Helvetica"/>
              </a:rPr>
              <a:t>repo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77825" y="4373880"/>
            <a:ext cx="6804659" cy="2407920"/>
            <a:chOff x="377825" y="4097654"/>
            <a:chExt cx="6804659" cy="2407920"/>
          </a:xfrm>
        </p:grpSpPr>
        <p:sp>
          <p:nvSpPr>
            <p:cNvPr id="51" name="object 51"/>
            <p:cNvSpPr/>
            <p:nvPr/>
          </p:nvSpPr>
          <p:spPr>
            <a:xfrm>
              <a:off x="3760217" y="4102099"/>
              <a:ext cx="40005" cy="127000"/>
            </a:xfrm>
            <a:custGeom>
              <a:avLst/>
              <a:gdLst/>
              <a:ahLst/>
              <a:cxnLst/>
              <a:rect l="l" t="t" r="r" b="b"/>
              <a:pathLst>
                <a:path w="40004" h="127000">
                  <a:moveTo>
                    <a:pt x="19782" y="0"/>
                  </a:moveTo>
                  <a:lnTo>
                    <a:pt x="19782" y="127000"/>
                  </a:lnTo>
                </a:path>
                <a:path w="40004" h="127000">
                  <a:moveTo>
                    <a:pt x="19782" y="127000"/>
                  </a:moveTo>
                  <a:lnTo>
                    <a:pt x="39565" y="80210"/>
                  </a:lnTo>
                </a:path>
                <a:path w="40004" h="127000">
                  <a:moveTo>
                    <a:pt x="19782" y="127000"/>
                  </a:moveTo>
                  <a:lnTo>
                    <a:pt x="0" y="80210"/>
                  </a:lnTo>
                </a:path>
              </a:pathLst>
            </a:custGeom>
            <a:ln w="8890">
              <a:solidFill>
                <a:srgbClr val="878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1000" y="4279899"/>
              <a:ext cx="6798309" cy="2222500"/>
            </a:xfrm>
            <a:custGeom>
              <a:avLst/>
              <a:gdLst/>
              <a:ahLst/>
              <a:cxnLst/>
              <a:rect l="l" t="t" r="r" b="b"/>
              <a:pathLst>
                <a:path w="6798309" h="2222500">
                  <a:moveTo>
                    <a:pt x="127000" y="2222500"/>
                  </a:moveTo>
                  <a:lnTo>
                    <a:pt x="6671000" y="2222500"/>
                  </a:lnTo>
                  <a:lnTo>
                    <a:pt x="6720461" y="2212528"/>
                  </a:lnTo>
                  <a:lnTo>
                    <a:pt x="6760827" y="2185327"/>
                  </a:lnTo>
                  <a:lnTo>
                    <a:pt x="6788029" y="2144961"/>
                  </a:lnTo>
                  <a:lnTo>
                    <a:pt x="6798000" y="2095500"/>
                  </a:lnTo>
                  <a:lnTo>
                    <a:pt x="6798000" y="127000"/>
                  </a:lnTo>
                  <a:lnTo>
                    <a:pt x="6788029" y="77538"/>
                  </a:lnTo>
                  <a:lnTo>
                    <a:pt x="6760827" y="37172"/>
                  </a:lnTo>
                  <a:lnTo>
                    <a:pt x="6720461" y="9971"/>
                  </a:lnTo>
                  <a:lnTo>
                    <a:pt x="6671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7000"/>
                  </a:lnTo>
                  <a:lnTo>
                    <a:pt x="0" y="2095500"/>
                  </a:lnTo>
                  <a:lnTo>
                    <a:pt x="9971" y="2144961"/>
                  </a:lnTo>
                  <a:lnTo>
                    <a:pt x="37172" y="2185327"/>
                  </a:lnTo>
                  <a:lnTo>
                    <a:pt x="77538" y="2212528"/>
                  </a:lnTo>
                  <a:lnTo>
                    <a:pt x="127000" y="2222500"/>
                  </a:lnTo>
                  <a:close/>
                </a:path>
              </a:pathLst>
            </a:custGeom>
            <a:ln w="6350">
              <a:solidFill>
                <a:srgbClr val="D3D1C6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576179" y="4606925"/>
            <a:ext cx="2407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Part III — Validazione empirica e casi </a:t>
            </a:r>
            <a:r>
              <a:rPr sz="900" b="1" spc="-10" dirty="0">
                <a:solidFill>
                  <a:srgbClr val="444441"/>
                </a:solidFill>
                <a:latin typeface="Helvetica"/>
                <a:cs typeface="Helvetica"/>
              </a:rPr>
              <a:t>studio</a:t>
            </a:r>
            <a:endParaRPr sz="900">
              <a:latin typeface="Helvetica"/>
              <a:cs typeface="Helvetic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03555" y="4907280"/>
            <a:ext cx="3217545" cy="440690"/>
            <a:chOff x="503555" y="4631054"/>
            <a:chExt cx="3217545" cy="440690"/>
          </a:xfrm>
        </p:grpSpPr>
        <p:sp>
          <p:nvSpPr>
            <p:cNvPr id="55" name="object 55"/>
            <p:cNvSpPr/>
            <p:nvPr/>
          </p:nvSpPr>
          <p:spPr>
            <a:xfrm>
              <a:off x="508000" y="4635499"/>
              <a:ext cx="3208655" cy="431800"/>
            </a:xfrm>
            <a:custGeom>
              <a:avLst/>
              <a:gdLst/>
              <a:ahLst/>
              <a:cxnLst/>
              <a:rect l="l" t="t" r="r" b="b"/>
              <a:pathLst>
                <a:path w="3208654" h="431800">
                  <a:moveTo>
                    <a:pt x="3132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lnTo>
                    <a:pt x="3132300" y="431800"/>
                  </a:lnTo>
                  <a:lnTo>
                    <a:pt x="3161977" y="425817"/>
                  </a:lnTo>
                  <a:lnTo>
                    <a:pt x="3186196" y="409496"/>
                  </a:lnTo>
                  <a:lnTo>
                    <a:pt x="3202517" y="385277"/>
                  </a:lnTo>
                  <a:lnTo>
                    <a:pt x="3208500" y="355600"/>
                  </a:lnTo>
                  <a:lnTo>
                    <a:pt x="3208500" y="76200"/>
                  </a:lnTo>
                  <a:lnTo>
                    <a:pt x="3202517" y="46522"/>
                  </a:lnTo>
                  <a:lnTo>
                    <a:pt x="3186196" y="22303"/>
                  </a:lnTo>
                  <a:lnTo>
                    <a:pt x="3161977" y="5982"/>
                  </a:lnTo>
                  <a:lnTo>
                    <a:pt x="3132300" y="0"/>
                  </a:lnTo>
                  <a:close/>
                </a:path>
              </a:pathLst>
            </a:custGeom>
            <a:solidFill>
              <a:srgbClr val="E1F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08000" y="4635499"/>
              <a:ext cx="3208655" cy="431800"/>
            </a:xfrm>
            <a:custGeom>
              <a:avLst/>
              <a:gdLst/>
              <a:ahLst/>
              <a:cxnLst/>
              <a:rect l="l" t="t" r="r" b="b"/>
              <a:pathLst>
                <a:path w="3208654" h="431800">
                  <a:moveTo>
                    <a:pt x="76200" y="431800"/>
                  </a:moveTo>
                  <a:lnTo>
                    <a:pt x="3132300" y="431800"/>
                  </a:lnTo>
                  <a:lnTo>
                    <a:pt x="3161977" y="425817"/>
                  </a:lnTo>
                  <a:lnTo>
                    <a:pt x="3186196" y="409496"/>
                  </a:lnTo>
                  <a:lnTo>
                    <a:pt x="3202517" y="385277"/>
                  </a:lnTo>
                  <a:lnTo>
                    <a:pt x="3208500" y="355600"/>
                  </a:lnTo>
                  <a:lnTo>
                    <a:pt x="3208500" y="76200"/>
                  </a:lnTo>
                  <a:lnTo>
                    <a:pt x="3202517" y="46522"/>
                  </a:lnTo>
                  <a:lnTo>
                    <a:pt x="3186196" y="22303"/>
                  </a:lnTo>
                  <a:lnTo>
                    <a:pt x="3161977" y="5982"/>
                  </a:lnTo>
                  <a:lnTo>
                    <a:pt x="3132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close/>
                </a:path>
              </a:pathLst>
            </a:custGeom>
            <a:ln w="8890">
              <a:solidFill>
                <a:srgbClr val="0F6E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546385" y="4921377"/>
            <a:ext cx="1132205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084F41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084F41"/>
                </a:solidFill>
                <a:latin typeface="Helvetica"/>
                <a:cs typeface="Helvetica"/>
              </a:rPr>
              <a:t> </a:t>
            </a:r>
            <a:r>
              <a:rPr sz="900" b="1" spc="-50" dirty="0">
                <a:solidFill>
                  <a:srgbClr val="084F41"/>
                </a:solidFill>
                <a:latin typeface="Helvetica"/>
                <a:cs typeface="Helvetica"/>
              </a:rPr>
              <a:t>7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750" dirty="0">
                <a:solidFill>
                  <a:srgbClr val="084F41"/>
                </a:solidFill>
                <a:latin typeface="Helvetica"/>
                <a:cs typeface="Helvetica"/>
              </a:rPr>
              <a:t>Studio</a:t>
            </a:r>
            <a:r>
              <a:rPr sz="750" spc="-15" dirty="0">
                <a:solidFill>
                  <a:srgbClr val="084F41"/>
                </a:solidFill>
                <a:latin typeface="Helvetica"/>
                <a:cs typeface="Helvetica"/>
              </a:rPr>
              <a:t> </a:t>
            </a:r>
            <a:r>
              <a:rPr sz="750" dirty="0">
                <a:solidFill>
                  <a:srgbClr val="084F41"/>
                </a:solidFill>
                <a:latin typeface="Helvetica"/>
                <a:cs typeface="Helvetica"/>
              </a:rPr>
              <a:t>OPBGFL</a:t>
            </a:r>
            <a:r>
              <a:rPr sz="750" spc="-10" dirty="0">
                <a:solidFill>
                  <a:srgbClr val="084F41"/>
                </a:solidFill>
                <a:latin typeface="Helvetica"/>
                <a:cs typeface="Helvetica"/>
              </a:rPr>
              <a:t> </a:t>
            </a:r>
            <a:r>
              <a:rPr sz="750" dirty="0">
                <a:solidFill>
                  <a:srgbClr val="084F41"/>
                </a:solidFill>
                <a:latin typeface="Helvetica"/>
                <a:cs typeface="Helvetica"/>
              </a:rPr>
              <a:t>(18</a:t>
            </a:r>
            <a:r>
              <a:rPr sz="750" spc="-10" dirty="0">
                <a:solidFill>
                  <a:srgbClr val="084F41"/>
                </a:solidFill>
                <a:latin typeface="Helvetica"/>
                <a:cs typeface="Helvetica"/>
              </a:rPr>
              <a:t> mesi)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48560" y="5346065"/>
            <a:ext cx="927735" cy="279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P-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M</a:t>
            </a:r>
            <a:r>
              <a:rPr sz="600" spc="1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·</a:t>
            </a:r>
            <a:r>
              <a:rPr sz="600" spc="1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FL-</a:t>
            </a:r>
            <a:r>
              <a:rPr sz="600" spc="-20" dirty="0">
                <a:solidFill>
                  <a:srgbClr val="878780"/>
                </a:solidFill>
                <a:latin typeface="Helvetica"/>
                <a:cs typeface="Helvetica"/>
              </a:rPr>
              <a:t>EHDS</a:t>
            </a:r>
            <a:endParaRPr sz="6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600" i="1" dirty="0">
                <a:solidFill>
                  <a:srgbClr val="878780"/>
                </a:solidFill>
                <a:latin typeface="Helvetica"/>
                <a:cs typeface="Helvetica"/>
              </a:rPr>
              <a:t>FLOPBG</a:t>
            </a:r>
            <a:r>
              <a:rPr sz="600" i="1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i="1" dirty="0">
                <a:solidFill>
                  <a:srgbClr val="878780"/>
                </a:solidFill>
                <a:latin typeface="Helvetica"/>
                <a:cs typeface="Helvetica"/>
              </a:rPr>
              <a:t>(6</a:t>
            </a:r>
            <a:r>
              <a:rPr sz="600" i="1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i="1" dirty="0">
                <a:solidFill>
                  <a:srgbClr val="878780"/>
                </a:solidFill>
                <a:latin typeface="Helvetica"/>
                <a:cs typeface="Helvetica"/>
              </a:rPr>
              <a:t>dataset</a:t>
            </a:r>
            <a:r>
              <a:rPr sz="600" i="1" spc="-10" dirty="0">
                <a:solidFill>
                  <a:srgbClr val="878780"/>
                </a:solidFill>
                <a:latin typeface="Helvetica"/>
                <a:cs typeface="Helvetica"/>
              </a:rPr>
              <a:t> clinici)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839055" y="4907280"/>
            <a:ext cx="3217545" cy="440690"/>
            <a:chOff x="3839055" y="4631054"/>
            <a:chExt cx="3217545" cy="440690"/>
          </a:xfrm>
        </p:grpSpPr>
        <p:sp>
          <p:nvSpPr>
            <p:cNvPr id="60" name="object 60"/>
            <p:cNvSpPr/>
            <p:nvPr/>
          </p:nvSpPr>
          <p:spPr>
            <a:xfrm>
              <a:off x="3843500" y="4635499"/>
              <a:ext cx="3208655" cy="431800"/>
            </a:xfrm>
            <a:custGeom>
              <a:avLst/>
              <a:gdLst/>
              <a:ahLst/>
              <a:cxnLst/>
              <a:rect l="l" t="t" r="r" b="b"/>
              <a:pathLst>
                <a:path w="3208654" h="431800">
                  <a:moveTo>
                    <a:pt x="3132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lnTo>
                    <a:pt x="3132300" y="431800"/>
                  </a:lnTo>
                  <a:lnTo>
                    <a:pt x="3161977" y="425817"/>
                  </a:lnTo>
                  <a:lnTo>
                    <a:pt x="3186196" y="409496"/>
                  </a:lnTo>
                  <a:lnTo>
                    <a:pt x="3202517" y="385277"/>
                  </a:lnTo>
                  <a:lnTo>
                    <a:pt x="3208500" y="355600"/>
                  </a:lnTo>
                  <a:lnTo>
                    <a:pt x="3208500" y="76200"/>
                  </a:lnTo>
                  <a:lnTo>
                    <a:pt x="3202517" y="46522"/>
                  </a:lnTo>
                  <a:lnTo>
                    <a:pt x="3186196" y="22303"/>
                  </a:lnTo>
                  <a:lnTo>
                    <a:pt x="3161977" y="5982"/>
                  </a:lnTo>
                  <a:lnTo>
                    <a:pt x="3132300" y="0"/>
                  </a:lnTo>
                  <a:close/>
                </a:path>
              </a:pathLst>
            </a:custGeom>
            <a:solidFill>
              <a:srgbClr val="F9EB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843500" y="4635499"/>
              <a:ext cx="3208655" cy="431800"/>
            </a:xfrm>
            <a:custGeom>
              <a:avLst/>
              <a:gdLst/>
              <a:ahLst/>
              <a:cxnLst/>
              <a:rect l="l" t="t" r="r" b="b"/>
              <a:pathLst>
                <a:path w="3208654" h="431800">
                  <a:moveTo>
                    <a:pt x="76200" y="431800"/>
                  </a:moveTo>
                  <a:lnTo>
                    <a:pt x="3132300" y="431800"/>
                  </a:lnTo>
                  <a:lnTo>
                    <a:pt x="3161977" y="425817"/>
                  </a:lnTo>
                  <a:lnTo>
                    <a:pt x="3186196" y="409496"/>
                  </a:lnTo>
                  <a:lnTo>
                    <a:pt x="3202517" y="385277"/>
                  </a:lnTo>
                  <a:lnTo>
                    <a:pt x="3208500" y="355600"/>
                  </a:lnTo>
                  <a:lnTo>
                    <a:pt x="3208500" y="76200"/>
                  </a:lnTo>
                  <a:lnTo>
                    <a:pt x="3202517" y="46522"/>
                  </a:lnTo>
                  <a:lnTo>
                    <a:pt x="3186196" y="22303"/>
                  </a:lnTo>
                  <a:lnTo>
                    <a:pt x="3161977" y="5982"/>
                  </a:lnTo>
                  <a:lnTo>
                    <a:pt x="3132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close/>
                </a:path>
              </a:pathLst>
            </a:custGeom>
            <a:ln w="8890">
              <a:solidFill>
                <a:srgbClr val="993B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802446" y="4921377"/>
            <a:ext cx="1290955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702A13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702A13"/>
                </a:solidFill>
                <a:latin typeface="Helvetica"/>
                <a:cs typeface="Helvetica"/>
              </a:rPr>
              <a:t> </a:t>
            </a:r>
            <a:r>
              <a:rPr sz="900" b="1" spc="-50" dirty="0">
                <a:solidFill>
                  <a:srgbClr val="702A13"/>
                </a:solidFill>
                <a:latin typeface="Helvetica"/>
                <a:cs typeface="Helvetica"/>
              </a:rPr>
              <a:t>8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750" dirty="0">
                <a:solidFill>
                  <a:srgbClr val="702A13"/>
                </a:solidFill>
                <a:latin typeface="Helvetica"/>
                <a:cs typeface="Helvetica"/>
              </a:rPr>
              <a:t>Studio BLEKFL2 cross-</a:t>
            </a:r>
            <a:r>
              <a:rPr sz="750" spc="-10" dirty="0">
                <a:solidFill>
                  <a:srgbClr val="702A13"/>
                </a:solidFill>
                <a:latin typeface="Helvetica"/>
                <a:cs typeface="Helvetica"/>
              </a:rPr>
              <a:t>border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967105" y="5346065"/>
            <a:ext cx="961390" cy="2794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ICID · 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ICSIS</a:t>
            </a:r>
            <a:endParaRPr sz="6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600" i="1" dirty="0">
                <a:solidFill>
                  <a:srgbClr val="878780"/>
                </a:solidFill>
                <a:latin typeface="Helvetica"/>
                <a:cs typeface="Helvetica"/>
              </a:rPr>
              <a:t>BLEKFL2</a:t>
            </a:r>
            <a:r>
              <a:rPr sz="600" i="1" spc="-2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i="1" dirty="0">
                <a:solidFill>
                  <a:srgbClr val="878780"/>
                </a:solidFill>
                <a:latin typeface="Helvetica"/>
                <a:cs typeface="Helvetica"/>
              </a:rPr>
              <a:t>(vis.</a:t>
            </a:r>
            <a:r>
              <a:rPr sz="600" i="1" spc="-1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i="1" dirty="0">
                <a:solidFill>
                  <a:srgbClr val="878780"/>
                </a:solidFill>
                <a:latin typeface="Helvetica"/>
                <a:cs typeface="Helvetica"/>
              </a:rPr>
              <a:t>3D</a:t>
            </a:r>
            <a:r>
              <a:rPr sz="600" i="1" spc="-2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i="1" spc="-10" dirty="0">
                <a:solidFill>
                  <a:srgbClr val="878780"/>
                </a:solidFill>
                <a:latin typeface="Helvetica"/>
                <a:cs typeface="Helvetica"/>
              </a:rPr>
              <a:t>didattica)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503555" y="5694680"/>
            <a:ext cx="3217545" cy="440690"/>
            <a:chOff x="503555" y="5418454"/>
            <a:chExt cx="3217545" cy="440690"/>
          </a:xfrm>
        </p:grpSpPr>
        <p:sp>
          <p:nvSpPr>
            <p:cNvPr id="65" name="object 65"/>
            <p:cNvSpPr/>
            <p:nvPr/>
          </p:nvSpPr>
          <p:spPr>
            <a:xfrm>
              <a:off x="508000" y="5422899"/>
              <a:ext cx="3208655" cy="431800"/>
            </a:xfrm>
            <a:custGeom>
              <a:avLst/>
              <a:gdLst/>
              <a:ahLst/>
              <a:cxnLst/>
              <a:rect l="l" t="t" r="r" b="b"/>
              <a:pathLst>
                <a:path w="3208654" h="431800">
                  <a:moveTo>
                    <a:pt x="3132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lnTo>
                    <a:pt x="3132300" y="431800"/>
                  </a:lnTo>
                  <a:lnTo>
                    <a:pt x="3161977" y="425817"/>
                  </a:lnTo>
                  <a:lnTo>
                    <a:pt x="3186196" y="409496"/>
                  </a:lnTo>
                  <a:lnTo>
                    <a:pt x="3202517" y="385277"/>
                  </a:lnTo>
                  <a:lnTo>
                    <a:pt x="3208500" y="355600"/>
                  </a:lnTo>
                  <a:lnTo>
                    <a:pt x="3208500" y="76200"/>
                  </a:lnTo>
                  <a:lnTo>
                    <a:pt x="3202517" y="46522"/>
                  </a:lnTo>
                  <a:lnTo>
                    <a:pt x="3186196" y="22303"/>
                  </a:lnTo>
                  <a:lnTo>
                    <a:pt x="3161977" y="5982"/>
                  </a:lnTo>
                  <a:lnTo>
                    <a:pt x="3132300" y="0"/>
                  </a:lnTo>
                  <a:close/>
                </a:path>
              </a:pathLst>
            </a:custGeom>
            <a:solidFill>
              <a:srgbClr val="E6F0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08000" y="5422899"/>
              <a:ext cx="3208655" cy="431800"/>
            </a:xfrm>
            <a:custGeom>
              <a:avLst/>
              <a:gdLst/>
              <a:ahLst/>
              <a:cxnLst/>
              <a:rect l="l" t="t" r="r" b="b"/>
              <a:pathLst>
                <a:path w="3208654" h="431800">
                  <a:moveTo>
                    <a:pt x="76200" y="431800"/>
                  </a:moveTo>
                  <a:lnTo>
                    <a:pt x="3132300" y="431800"/>
                  </a:lnTo>
                  <a:lnTo>
                    <a:pt x="3161977" y="425817"/>
                  </a:lnTo>
                  <a:lnTo>
                    <a:pt x="3186196" y="409496"/>
                  </a:lnTo>
                  <a:lnTo>
                    <a:pt x="3202517" y="385277"/>
                  </a:lnTo>
                  <a:lnTo>
                    <a:pt x="3208500" y="355600"/>
                  </a:lnTo>
                  <a:lnTo>
                    <a:pt x="3208500" y="76200"/>
                  </a:lnTo>
                  <a:lnTo>
                    <a:pt x="3202517" y="46522"/>
                  </a:lnTo>
                  <a:lnTo>
                    <a:pt x="3186196" y="22303"/>
                  </a:lnTo>
                  <a:lnTo>
                    <a:pt x="3161977" y="5982"/>
                  </a:lnTo>
                  <a:lnTo>
                    <a:pt x="3132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close/>
                </a:path>
              </a:pathLst>
            </a:custGeom>
            <a:ln w="8890">
              <a:solidFill>
                <a:srgbClr val="185E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1477614" y="5708777"/>
            <a:ext cx="1269365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0C447C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0C447C"/>
                </a:solidFill>
                <a:latin typeface="Helvetica"/>
                <a:cs typeface="Helvetica"/>
              </a:rPr>
              <a:t> </a:t>
            </a:r>
            <a:r>
              <a:rPr sz="900" b="1" spc="-50" dirty="0">
                <a:solidFill>
                  <a:srgbClr val="0C447C"/>
                </a:solidFill>
                <a:latin typeface="Helvetica"/>
                <a:cs typeface="Helvetica"/>
              </a:rPr>
              <a:t>9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750" dirty="0">
                <a:solidFill>
                  <a:srgbClr val="0C447C"/>
                </a:solidFill>
                <a:latin typeface="Helvetica"/>
                <a:cs typeface="Helvetica"/>
              </a:rPr>
              <a:t>Validazione</a:t>
            </a:r>
            <a:r>
              <a:rPr sz="750" spc="10" dirty="0">
                <a:solidFill>
                  <a:srgbClr val="0C447C"/>
                </a:solidFill>
                <a:latin typeface="Helvetica"/>
                <a:cs typeface="Helvetica"/>
              </a:rPr>
              <a:t> </a:t>
            </a:r>
            <a:r>
              <a:rPr sz="750" dirty="0">
                <a:solidFill>
                  <a:srgbClr val="0C447C"/>
                </a:solidFill>
                <a:latin typeface="Helvetica"/>
                <a:cs typeface="Helvetica"/>
              </a:rPr>
              <a:t>MDPI</a:t>
            </a:r>
            <a:r>
              <a:rPr sz="750" spc="10" dirty="0">
                <a:solidFill>
                  <a:srgbClr val="0C447C"/>
                </a:solidFill>
                <a:latin typeface="Helvetica"/>
                <a:cs typeface="Helvetica"/>
              </a:rPr>
              <a:t> </a:t>
            </a:r>
            <a:r>
              <a:rPr sz="750" dirty="0">
                <a:solidFill>
                  <a:srgbClr val="0C447C"/>
                </a:solidFill>
                <a:latin typeface="Helvetica"/>
                <a:cs typeface="Helvetica"/>
              </a:rPr>
              <a:t>/</a:t>
            </a:r>
            <a:r>
              <a:rPr sz="750" spc="10" dirty="0">
                <a:solidFill>
                  <a:srgbClr val="0C447C"/>
                </a:solidFill>
                <a:latin typeface="Helvetica"/>
                <a:cs typeface="Helvetica"/>
              </a:rPr>
              <a:t> </a:t>
            </a:r>
            <a:r>
              <a:rPr sz="750" dirty="0">
                <a:solidFill>
                  <a:srgbClr val="0C447C"/>
                </a:solidFill>
                <a:latin typeface="Helvetica"/>
                <a:cs typeface="Helvetica"/>
              </a:rPr>
              <a:t>FL-</a:t>
            </a:r>
            <a:r>
              <a:rPr sz="750" spc="-20" dirty="0">
                <a:solidFill>
                  <a:srgbClr val="0C447C"/>
                </a:solidFill>
                <a:latin typeface="Helvetica"/>
                <a:cs typeface="Helvetica"/>
              </a:rPr>
              <a:t>EHDS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473909" y="6169025"/>
            <a:ext cx="127698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P-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M</a:t>
            </a:r>
            <a:r>
              <a:rPr sz="600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· 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FL-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EHDS (6.004+ 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esperimenti)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839055" y="5694680"/>
            <a:ext cx="3217545" cy="440690"/>
            <a:chOff x="3839055" y="5418454"/>
            <a:chExt cx="3217545" cy="440690"/>
          </a:xfrm>
        </p:grpSpPr>
        <p:sp>
          <p:nvSpPr>
            <p:cNvPr id="70" name="object 70"/>
            <p:cNvSpPr/>
            <p:nvPr/>
          </p:nvSpPr>
          <p:spPr>
            <a:xfrm>
              <a:off x="3843500" y="5422899"/>
              <a:ext cx="3208655" cy="431800"/>
            </a:xfrm>
            <a:custGeom>
              <a:avLst/>
              <a:gdLst/>
              <a:ahLst/>
              <a:cxnLst/>
              <a:rect l="l" t="t" r="r" b="b"/>
              <a:pathLst>
                <a:path w="3208654" h="431800">
                  <a:moveTo>
                    <a:pt x="3132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lnTo>
                    <a:pt x="3132300" y="431800"/>
                  </a:lnTo>
                  <a:lnTo>
                    <a:pt x="3161977" y="425817"/>
                  </a:lnTo>
                  <a:lnTo>
                    <a:pt x="3186196" y="409496"/>
                  </a:lnTo>
                  <a:lnTo>
                    <a:pt x="3202517" y="385277"/>
                  </a:lnTo>
                  <a:lnTo>
                    <a:pt x="3208500" y="355600"/>
                  </a:lnTo>
                  <a:lnTo>
                    <a:pt x="3208500" y="76200"/>
                  </a:lnTo>
                  <a:lnTo>
                    <a:pt x="3202517" y="46522"/>
                  </a:lnTo>
                  <a:lnTo>
                    <a:pt x="3186196" y="22303"/>
                  </a:lnTo>
                  <a:lnTo>
                    <a:pt x="3161977" y="5982"/>
                  </a:lnTo>
                  <a:lnTo>
                    <a:pt x="3132300" y="0"/>
                  </a:lnTo>
                  <a:close/>
                </a:path>
              </a:pathLst>
            </a:custGeom>
            <a:solidFill>
              <a:srgbClr val="E1F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43500" y="5422899"/>
              <a:ext cx="3208655" cy="431800"/>
            </a:xfrm>
            <a:custGeom>
              <a:avLst/>
              <a:gdLst/>
              <a:ahLst/>
              <a:cxnLst/>
              <a:rect l="l" t="t" r="r" b="b"/>
              <a:pathLst>
                <a:path w="3208654" h="431800">
                  <a:moveTo>
                    <a:pt x="76200" y="431800"/>
                  </a:moveTo>
                  <a:lnTo>
                    <a:pt x="3132300" y="431800"/>
                  </a:lnTo>
                  <a:lnTo>
                    <a:pt x="3161977" y="425817"/>
                  </a:lnTo>
                  <a:lnTo>
                    <a:pt x="3186196" y="409496"/>
                  </a:lnTo>
                  <a:lnTo>
                    <a:pt x="3202517" y="385277"/>
                  </a:lnTo>
                  <a:lnTo>
                    <a:pt x="3208500" y="355600"/>
                  </a:lnTo>
                  <a:lnTo>
                    <a:pt x="3208500" y="76200"/>
                  </a:lnTo>
                  <a:lnTo>
                    <a:pt x="3202517" y="46522"/>
                  </a:lnTo>
                  <a:lnTo>
                    <a:pt x="3186196" y="22303"/>
                  </a:lnTo>
                  <a:lnTo>
                    <a:pt x="3161977" y="5982"/>
                  </a:lnTo>
                  <a:lnTo>
                    <a:pt x="3132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55600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800"/>
                  </a:lnTo>
                  <a:close/>
                </a:path>
              </a:pathLst>
            </a:custGeom>
            <a:ln w="8890">
              <a:solidFill>
                <a:srgbClr val="0F6E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863264" y="5708777"/>
            <a:ext cx="1169670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084F41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084F41"/>
                </a:solidFill>
                <a:latin typeface="Helvetica"/>
                <a:cs typeface="Helvetica"/>
              </a:rPr>
              <a:t> </a:t>
            </a:r>
            <a:r>
              <a:rPr sz="900" b="1" spc="-25" dirty="0">
                <a:solidFill>
                  <a:srgbClr val="084F41"/>
                </a:solidFill>
                <a:latin typeface="Helvetica"/>
                <a:cs typeface="Helvetica"/>
              </a:rPr>
              <a:t>10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750" dirty="0">
                <a:solidFill>
                  <a:srgbClr val="084F41"/>
                </a:solidFill>
                <a:latin typeface="Helvetica"/>
                <a:cs typeface="Helvetica"/>
              </a:rPr>
              <a:t>Survey</a:t>
            </a:r>
            <a:r>
              <a:rPr sz="750" spc="15" dirty="0">
                <a:solidFill>
                  <a:srgbClr val="084F41"/>
                </a:solidFill>
                <a:latin typeface="Helvetica"/>
                <a:cs typeface="Helvetica"/>
              </a:rPr>
              <a:t> </a:t>
            </a:r>
            <a:r>
              <a:rPr sz="750" dirty="0">
                <a:solidFill>
                  <a:srgbClr val="084F41"/>
                </a:solidFill>
                <a:latin typeface="Helvetica"/>
                <a:cs typeface="Helvetica"/>
              </a:rPr>
              <a:t>nazionale</a:t>
            </a:r>
            <a:r>
              <a:rPr sz="750" spc="15" dirty="0">
                <a:solidFill>
                  <a:srgbClr val="084F41"/>
                </a:solidFill>
                <a:latin typeface="Helvetica"/>
                <a:cs typeface="Helvetica"/>
              </a:rPr>
              <a:t> </a:t>
            </a:r>
            <a:r>
              <a:rPr sz="750" spc="-10" dirty="0">
                <a:solidFill>
                  <a:srgbClr val="084F41"/>
                </a:solidFill>
                <a:latin typeface="Helvetica"/>
                <a:cs typeface="Helvetica"/>
              </a:rPr>
              <a:t>adozione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712978" y="6169025"/>
            <a:ext cx="147002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IFKAD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·</a:t>
            </a:r>
            <a:r>
              <a:rPr sz="600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ICSIS</a:t>
            </a:r>
            <a:r>
              <a:rPr sz="600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·</a:t>
            </a:r>
            <a:r>
              <a:rPr sz="600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Questionario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(23</a:t>
            </a:r>
            <a:r>
              <a:rPr sz="600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ospedali)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377825" y="6799580"/>
            <a:ext cx="6804659" cy="1518920"/>
            <a:chOff x="377825" y="6523354"/>
            <a:chExt cx="6804659" cy="1518920"/>
          </a:xfrm>
        </p:grpSpPr>
        <p:sp>
          <p:nvSpPr>
            <p:cNvPr id="75" name="object 75"/>
            <p:cNvSpPr/>
            <p:nvPr/>
          </p:nvSpPr>
          <p:spPr>
            <a:xfrm>
              <a:off x="3760217" y="6527799"/>
              <a:ext cx="40005" cy="127000"/>
            </a:xfrm>
            <a:custGeom>
              <a:avLst/>
              <a:gdLst/>
              <a:ahLst/>
              <a:cxnLst/>
              <a:rect l="l" t="t" r="r" b="b"/>
              <a:pathLst>
                <a:path w="40004" h="127000">
                  <a:moveTo>
                    <a:pt x="19782" y="0"/>
                  </a:moveTo>
                  <a:lnTo>
                    <a:pt x="19782" y="126999"/>
                  </a:lnTo>
                </a:path>
                <a:path w="40004" h="127000">
                  <a:moveTo>
                    <a:pt x="19782" y="126999"/>
                  </a:moveTo>
                  <a:lnTo>
                    <a:pt x="39565" y="80210"/>
                  </a:lnTo>
                </a:path>
                <a:path w="40004" h="127000">
                  <a:moveTo>
                    <a:pt x="19782" y="126999"/>
                  </a:moveTo>
                  <a:lnTo>
                    <a:pt x="0" y="80210"/>
                  </a:lnTo>
                </a:path>
              </a:pathLst>
            </a:custGeom>
            <a:ln w="8890">
              <a:solidFill>
                <a:srgbClr val="878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81000" y="6705599"/>
              <a:ext cx="6798309" cy="1333500"/>
            </a:xfrm>
            <a:custGeom>
              <a:avLst/>
              <a:gdLst/>
              <a:ahLst/>
              <a:cxnLst/>
              <a:rect l="l" t="t" r="r" b="b"/>
              <a:pathLst>
                <a:path w="6798309" h="1333500">
                  <a:moveTo>
                    <a:pt x="127000" y="1333499"/>
                  </a:moveTo>
                  <a:lnTo>
                    <a:pt x="6671000" y="1333499"/>
                  </a:lnTo>
                  <a:lnTo>
                    <a:pt x="6720461" y="1323528"/>
                  </a:lnTo>
                  <a:lnTo>
                    <a:pt x="6760827" y="1296327"/>
                  </a:lnTo>
                  <a:lnTo>
                    <a:pt x="6788029" y="1255961"/>
                  </a:lnTo>
                  <a:lnTo>
                    <a:pt x="6798000" y="1206499"/>
                  </a:lnTo>
                  <a:lnTo>
                    <a:pt x="6798000" y="126999"/>
                  </a:lnTo>
                  <a:lnTo>
                    <a:pt x="6788029" y="77538"/>
                  </a:lnTo>
                  <a:lnTo>
                    <a:pt x="6760827" y="37172"/>
                  </a:lnTo>
                  <a:lnTo>
                    <a:pt x="6720461" y="9971"/>
                  </a:lnTo>
                  <a:lnTo>
                    <a:pt x="6671000" y="0"/>
                  </a:lnTo>
                  <a:lnTo>
                    <a:pt x="127000" y="0"/>
                  </a:lnTo>
                  <a:lnTo>
                    <a:pt x="77538" y="9971"/>
                  </a:lnTo>
                  <a:lnTo>
                    <a:pt x="37172" y="37172"/>
                  </a:lnTo>
                  <a:lnTo>
                    <a:pt x="9971" y="77538"/>
                  </a:lnTo>
                  <a:lnTo>
                    <a:pt x="0" y="126999"/>
                  </a:lnTo>
                  <a:lnTo>
                    <a:pt x="0" y="1206499"/>
                  </a:lnTo>
                  <a:lnTo>
                    <a:pt x="9971" y="1255961"/>
                  </a:lnTo>
                  <a:lnTo>
                    <a:pt x="37172" y="1296327"/>
                  </a:lnTo>
                  <a:lnTo>
                    <a:pt x="77538" y="1323528"/>
                  </a:lnTo>
                  <a:lnTo>
                    <a:pt x="127000" y="1333499"/>
                  </a:lnTo>
                  <a:close/>
                </a:path>
              </a:pathLst>
            </a:custGeom>
            <a:ln w="6350">
              <a:solidFill>
                <a:srgbClr val="D3D1C6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2541375" y="7032626"/>
            <a:ext cx="2477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Part IV — Discussione, impatto e </a:t>
            </a:r>
            <a:r>
              <a:rPr sz="900" b="1" spc="-10" dirty="0">
                <a:solidFill>
                  <a:srgbClr val="444441"/>
                </a:solidFill>
                <a:latin typeface="Helvetica"/>
                <a:cs typeface="Helvetica"/>
              </a:rPr>
              <a:t>conclusioni</a:t>
            </a:r>
            <a:endParaRPr sz="900">
              <a:latin typeface="Helvetica"/>
              <a:cs typeface="Helvetic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03555" y="7332980"/>
            <a:ext cx="2105660" cy="440690"/>
            <a:chOff x="503555" y="7056754"/>
            <a:chExt cx="2105660" cy="440690"/>
          </a:xfrm>
        </p:grpSpPr>
        <p:sp>
          <p:nvSpPr>
            <p:cNvPr id="79" name="object 79"/>
            <p:cNvSpPr/>
            <p:nvPr/>
          </p:nvSpPr>
          <p:spPr>
            <a:xfrm>
              <a:off x="508000" y="70611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2020467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55599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799"/>
                  </a:lnTo>
                  <a:lnTo>
                    <a:pt x="2020467" y="431799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599"/>
                  </a:lnTo>
                  <a:lnTo>
                    <a:pt x="2096667" y="76199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close/>
                </a:path>
              </a:pathLst>
            </a:custGeom>
            <a:solidFill>
              <a:srgbClr val="F0E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08000" y="70611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76200" y="431799"/>
                  </a:moveTo>
                  <a:lnTo>
                    <a:pt x="2020467" y="431799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599"/>
                  </a:lnTo>
                  <a:lnTo>
                    <a:pt x="2096667" y="76199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55599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799"/>
                  </a:lnTo>
                  <a:close/>
                </a:path>
              </a:pathLst>
            </a:custGeom>
            <a:ln w="8890">
              <a:solidFill>
                <a:srgbClr val="5E5D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1088385" y="7347077"/>
            <a:ext cx="936625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900" b="1" spc="-25" dirty="0">
                <a:solidFill>
                  <a:srgbClr val="444441"/>
                </a:solidFill>
                <a:latin typeface="Helvetica"/>
                <a:cs typeface="Helvetica"/>
              </a:rPr>
              <a:t>11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750" dirty="0">
                <a:solidFill>
                  <a:srgbClr val="444441"/>
                </a:solidFill>
                <a:latin typeface="Helvetica"/>
                <a:cs typeface="Helvetica"/>
              </a:rPr>
              <a:t>Discussione </a:t>
            </a:r>
            <a:r>
              <a:rPr sz="750" spc="-10" dirty="0">
                <a:solidFill>
                  <a:srgbClr val="444441"/>
                </a:solidFill>
                <a:latin typeface="Helvetica"/>
                <a:cs typeface="Helvetica"/>
              </a:rPr>
              <a:t>integrata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152460" y="7807326"/>
            <a:ext cx="80899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Tutte</a:t>
            </a:r>
            <a:r>
              <a:rPr sz="600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le RQ</a:t>
            </a:r>
            <a:r>
              <a:rPr sz="600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00" spc="390" dirty="0">
                <a:solidFill>
                  <a:srgbClr val="878780"/>
                </a:solidFill>
                <a:latin typeface="Symbol"/>
                <a:cs typeface="Symbol"/>
              </a:rPr>
              <a:t></a:t>
            </a:r>
            <a:r>
              <a:rPr sz="600" spc="15" dirty="0">
                <a:solidFill>
                  <a:srgbClr val="878780"/>
                </a:solidFill>
                <a:latin typeface="Times New Roman"/>
                <a:cs typeface="Times New Roman"/>
              </a:rPr>
              <a:t> </a:t>
            </a:r>
            <a:r>
              <a:rPr sz="600" spc="-60" dirty="0">
                <a:solidFill>
                  <a:srgbClr val="878780"/>
                </a:solidFill>
                <a:latin typeface="Helvetica"/>
                <a:cs typeface="Helvetica"/>
              </a:rPr>
              <a:t>FENITH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701822" y="7332980"/>
            <a:ext cx="2105660" cy="440690"/>
            <a:chOff x="2701822" y="7056754"/>
            <a:chExt cx="2105660" cy="440690"/>
          </a:xfrm>
        </p:grpSpPr>
        <p:sp>
          <p:nvSpPr>
            <p:cNvPr id="84" name="object 84"/>
            <p:cNvSpPr/>
            <p:nvPr/>
          </p:nvSpPr>
          <p:spPr>
            <a:xfrm>
              <a:off x="2706267" y="70611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2020465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55599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799"/>
                  </a:lnTo>
                  <a:lnTo>
                    <a:pt x="2020465" y="431799"/>
                  </a:lnTo>
                  <a:lnTo>
                    <a:pt x="2050142" y="425817"/>
                  </a:lnTo>
                  <a:lnTo>
                    <a:pt x="2074362" y="409496"/>
                  </a:lnTo>
                  <a:lnTo>
                    <a:pt x="2090683" y="385277"/>
                  </a:lnTo>
                  <a:lnTo>
                    <a:pt x="2096665" y="355599"/>
                  </a:lnTo>
                  <a:lnTo>
                    <a:pt x="2096665" y="76199"/>
                  </a:lnTo>
                  <a:lnTo>
                    <a:pt x="2090683" y="46522"/>
                  </a:lnTo>
                  <a:lnTo>
                    <a:pt x="2074362" y="22303"/>
                  </a:lnTo>
                  <a:lnTo>
                    <a:pt x="2050142" y="5982"/>
                  </a:lnTo>
                  <a:lnTo>
                    <a:pt x="2020465" y="0"/>
                  </a:lnTo>
                  <a:close/>
                </a:path>
              </a:pathLst>
            </a:custGeom>
            <a:solidFill>
              <a:srgbClr val="E1F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706267" y="70611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76200" y="431799"/>
                  </a:moveTo>
                  <a:lnTo>
                    <a:pt x="2020465" y="431799"/>
                  </a:lnTo>
                  <a:lnTo>
                    <a:pt x="2050142" y="425817"/>
                  </a:lnTo>
                  <a:lnTo>
                    <a:pt x="2074362" y="409496"/>
                  </a:lnTo>
                  <a:lnTo>
                    <a:pt x="2090683" y="385277"/>
                  </a:lnTo>
                  <a:lnTo>
                    <a:pt x="2096665" y="355599"/>
                  </a:lnTo>
                  <a:lnTo>
                    <a:pt x="2096665" y="76199"/>
                  </a:lnTo>
                  <a:lnTo>
                    <a:pt x="2090683" y="46522"/>
                  </a:lnTo>
                  <a:lnTo>
                    <a:pt x="2074362" y="22303"/>
                  </a:lnTo>
                  <a:lnTo>
                    <a:pt x="2050142" y="5982"/>
                  </a:lnTo>
                  <a:lnTo>
                    <a:pt x="2020465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55599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799"/>
                  </a:lnTo>
                  <a:close/>
                </a:path>
              </a:pathLst>
            </a:custGeom>
            <a:ln w="8890">
              <a:solidFill>
                <a:srgbClr val="0F6E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3281317" y="7347077"/>
            <a:ext cx="946785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084F41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084F41"/>
                </a:solidFill>
                <a:latin typeface="Helvetica"/>
                <a:cs typeface="Helvetica"/>
              </a:rPr>
              <a:t> </a:t>
            </a:r>
            <a:r>
              <a:rPr sz="900" b="1" spc="-25" dirty="0">
                <a:solidFill>
                  <a:srgbClr val="084F41"/>
                </a:solidFill>
                <a:latin typeface="Helvetica"/>
                <a:cs typeface="Helvetica"/>
              </a:rPr>
              <a:t>12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750" dirty="0">
                <a:solidFill>
                  <a:srgbClr val="084F41"/>
                </a:solidFill>
                <a:latin typeface="Helvetica"/>
                <a:cs typeface="Helvetica"/>
              </a:rPr>
              <a:t>Impatto e </a:t>
            </a:r>
            <a:r>
              <a:rPr sz="750" spc="-10" dirty="0">
                <a:solidFill>
                  <a:srgbClr val="084F41"/>
                </a:solidFill>
                <a:latin typeface="Helvetica"/>
                <a:cs typeface="Helvetica"/>
              </a:rPr>
              <a:t>sostenibilità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498403" y="7807326"/>
            <a:ext cx="5124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878780"/>
                </a:solidFill>
                <a:latin typeface="Helvetica"/>
                <a:cs typeface="Helvetica"/>
              </a:rPr>
              <a:t>ICSIS · </a:t>
            </a: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IFKAD</a:t>
            </a:r>
            <a:endParaRPr sz="600">
              <a:latin typeface="Helvetica"/>
              <a:cs typeface="Helvetica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4900088" y="7332980"/>
            <a:ext cx="2105660" cy="440690"/>
            <a:chOff x="4900088" y="7056754"/>
            <a:chExt cx="2105660" cy="440690"/>
          </a:xfrm>
        </p:grpSpPr>
        <p:sp>
          <p:nvSpPr>
            <p:cNvPr id="89" name="object 89"/>
            <p:cNvSpPr/>
            <p:nvPr/>
          </p:nvSpPr>
          <p:spPr>
            <a:xfrm>
              <a:off x="4904533" y="70611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2020467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55599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799"/>
                  </a:lnTo>
                  <a:lnTo>
                    <a:pt x="2020467" y="431799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599"/>
                  </a:lnTo>
                  <a:lnTo>
                    <a:pt x="2096667" y="76199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close/>
                </a:path>
              </a:pathLst>
            </a:custGeom>
            <a:solidFill>
              <a:srgbClr val="F0E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904533" y="7061199"/>
              <a:ext cx="2096770" cy="431800"/>
            </a:xfrm>
            <a:custGeom>
              <a:avLst/>
              <a:gdLst/>
              <a:ahLst/>
              <a:cxnLst/>
              <a:rect l="l" t="t" r="r" b="b"/>
              <a:pathLst>
                <a:path w="2096770" h="431800">
                  <a:moveTo>
                    <a:pt x="76200" y="431799"/>
                  </a:moveTo>
                  <a:lnTo>
                    <a:pt x="2020467" y="431799"/>
                  </a:lnTo>
                  <a:lnTo>
                    <a:pt x="2050144" y="425817"/>
                  </a:lnTo>
                  <a:lnTo>
                    <a:pt x="2074363" y="409496"/>
                  </a:lnTo>
                  <a:lnTo>
                    <a:pt x="2090684" y="385277"/>
                  </a:lnTo>
                  <a:lnTo>
                    <a:pt x="2096667" y="355599"/>
                  </a:lnTo>
                  <a:lnTo>
                    <a:pt x="2096667" y="76199"/>
                  </a:lnTo>
                  <a:lnTo>
                    <a:pt x="2090684" y="46522"/>
                  </a:lnTo>
                  <a:lnTo>
                    <a:pt x="2074363" y="22303"/>
                  </a:lnTo>
                  <a:lnTo>
                    <a:pt x="2050144" y="5982"/>
                  </a:lnTo>
                  <a:lnTo>
                    <a:pt x="2020467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199"/>
                  </a:lnTo>
                  <a:lnTo>
                    <a:pt x="0" y="355599"/>
                  </a:lnTo>
                  <a:lnTo>
                    <a:pt x="5982" y="385277"/>
                  </a:lnTo>
                  <a:lnTo>
                    <a:pt x="22303" y="409496"/>
                  </a:lnTo>
                  <a:lnTo>
                    <a:pt x="46522" y="425817"/>
                  </a:lnTo>
                  <a:lnTo>
                    <a:pt x="76200" y="431799"/>
                  </a:lnTo>
                  <a:close/>
                </a:path>
              </a:pathLst>
            </a:custGeom>
            <a:ln w="8889">
              <a:solidFill>
                <a:srgbClr val="5E5D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5519304" y="7347077"/>
            <a:ext cx="867410" cy="3524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900" b="1" dirty="0">
                <a:solidFill>
                  <a:srgbClr val="444441"/>
                </a:solidFill>
                <a:latin typeface="Helvetica"/>
                <a:cs typeface="Helvetica"/>
              </a:rPr>
              <a:t>Ch</a:t>
            </a:r>
            <a:r>
              <a:rPr sz="900" b="1" spc="-1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900" b="1" spc="-25" dirty="0">
                <a:solidFill>
                  <a:srgbClr val="444441"/>
                </a:solidFill>
                <a:latin typeface="Helvetica"/>
                <a:cs typeface="Helvetica"/>
              </a:rPr>
              <a:t>13</a:t>
            </a:r>
            <a:endParaRPr sz="9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750" dirty="0">
                <a:solidFill>
                  <a:srgbClr val="444441"/>
                </a:solidFill>
                <a:latin typeface="Helvetica"/>
                <a:cs typeface="Helvetica"/>
              </a:rPr>
              <a:t>Conclusioni</a:t>
            </a:r>
            <a:r>
              <a:rPr sz="750" spc="20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750" dirty="0">
                <a:solidFill>
                  <a:srgbClr val="444441"/>
                </a:solidFill>
                <a:latin typeface="Helvetica"/>
                <a:cs typeface="Helvetica"/>
              </a:rPr>
              <a:t>e</a:t>
            </a:r>
            <a:r>
              <a:rPr sz="750" spc="20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750" spc="-10" dirty="0">
                <a:solidFill>
                  <a:srgbClr val="444441"/>
                </a:solidFill>
                <a:latin typeface="Helvetica"/>
                <a:cs typeface="Helvetica"/>
              </a:rPr>
              <a:t>futuro</a:t>
            </a:r>
            <a:endParaRPr sz="750">
              <a:latin typeface="Helvetica"/>
              <a:cs typeface="Helvetic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741170" y="7807326"/>
            <a:ext cx="4235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878780"/>
                </a:solidFill>
                <a:latin typeface="Helvetica"/>
                <a:cs typeface="Helvetica"/>
              </a:rPr>
              <a:t>Trasversale</a:t>
            </a:r>
            <a:endParaRPr sz="600">
              <a:latin typeface="Helvetica"/>
              <a:cs typeface="Helvetica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2383000" y="8750299"/>
            <a:ext cx="2794000" cy="508000"/>
          </a:xfrm>
          <a:custGeom>
            <a:avLst/>
            <a:gdLst/>
            <a:ahLst/>
            <a:cxnLst/>
            <a:rect l="l" t="t" r="r" b="b"/>
            <a:pathLst>
              <a:path w="2794000" h="508000">
                <a:moveTo>
                  <a:pt x="2667000" y="0"/>
                </a:move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381000"/>
                </a:lnTo>
                <a:lnTo>
                  <a:pt x="9971" y="430461"/>
                </a:lnTo>
                <a:lnTo>
                  <a:pt x="37172" y="470827"/>
                </a:lnTo>
                <a:lnTo>
                  <a:pt x="77538" y="498028"/>
                </a:lnTo>
                <a:lnTo>
                  <a:pt x="127000" y="508000"/>
                </a:lnTo>
                <a:lnTo>
                  <a:pt x="2667000" y="508000"/>
                </a:lnTo>
                <a:lnTo>
                  <a:pt x="2716461" y="498028"/>
                </a:lnTo>
                <a:lnTo>
                  <a:pt x="2756827" y="470827"/>
                </a:lnTo>
                <a:lnTo>
                  <a:pt x="2784028" y="430461"/>
                </a:lnTo>
                <a:lnTo>
                  <a:pt x="2794000" y="381000"/>
                </a:lnTo>
                <a:lnTo>
                  <a:pt x="2794000" y="127000"/>
                </a:lnTo>
                <a:lnTo>
                  <a:pt x="2784028" y="77538"/>
                </a:lnTo>
                <a:lnTo>
                  <a:pt x="2756827" y="37172"/>
                </a:lnTo>
                <a:lnTo>
                  <a:pt x="2716461" y="9971"/>
                </a:lnTo>
                <a:lnTo>
                  <a:pt x="2667000" y="0"/>
                </a:lnTo>
                <a:close/>
              </a:path>
            </a:pathLst>
          </a:custGeom>
          <a:solidFill>
            <a:srgbClr val="F9ED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383000" y="8750299"/>
            <a:ext cx="2794000" cy="508000"/>
          </a:xfrm>
          <a:custGeom>
            <a:avLst/>
            <a:gdLst/>
            <a:ahLst/>
            <a:cxnLst/>
            <a:rect l="l" t="t" r="r" b="b"/>
            <a:pathLst>
              <a:path w="2794000" h="508000">
                <a:moveTo>
                  <a:pt x="127000" y="508000"/>
                </a:moveTo>
                <a:lnTo>
                  <a:pt x="2667000" y="508000"/>
                </a:lnTo>
                <a:lnTo>
                  <a:pt x="2716461" y="498028"/>
                </a:lnTo>
                <a:lnTo>
                  <a:pt x="2756827" y="470827"/>
                </a:lnTo>
                <a:lnTo>
                  <a:pt x="2784028" y="430461"/>
                </a:lnTo>
                <a:lnTo>
                  <a:pt x="2794000" y="381000"/>
                </a:lnTo>
                <a:lnTo>
                  <a:pt x="2794000" y="127000"/>
                </a:lnTo>
                <a:lnTo>
                  <a:pt x="2784028" y="77538"/>
                </a:lnTo>
                <a:lnTo>
                  <a:pt x="2756827" y="37172"/>
                </a:lnTo>
                <a:lnTo>
                  <a:pt x="2716461" y="9971"/>
                </a:lnTo>
                <a:lnTo>
                  <a:pt x="2667000" y="0"/>
                </a:lnTo>
                <a:lnTo>
                  <a:pt x="127000" y="0"/>
                </a:lnTo>
                <a:lnTo>
                  <a:pt x="77538" y="9971"/>
                </a:lnTo>
                <a:lnTo>
                  <a:pt x="37172" y="37172"/>
                </a:lnTo>
                <a:lnTo>
                  <a:pt x="9971" y="77538"/>
                </a:lnTo>
                <a:lnTo>
                  <a:pt x="0" y="127000"/>
                </a:lnTo>
                <a:lnTo>
                  <a:pt x="0" y="381000"/>
                </a:lnTo>
                <a:lnTo>
                  <a:pt x="9971" y="430461"/>
                </a:lnTo>
                <a:lnTo>
                  <a:pt x="37172" y="470827"/>
                </a:lnTo>
                <a:lnTo>
                  <a:pt x="77538" y="498028"/>
                </a:lnTo>
                <a:lnTo>
                  <a:pt x="127000" y="508000"/>
                </a:lnTo>
                <a:close/>
              </a:path>
            </a:pathLst>
          </a:custGeom>
          <a:ln w="19050">
            <a:solidFill>
              <a:srgbClr val="854F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3110932" y="8763000"/>
            <a:ext cx="1338580" cy="40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623805"/>
                </a:solidFill>
                <a:latin typeface="Helvetica"/>
                <a:cs typeface="Helvetica"/>
              </a:rPr>
              <a:t>FENITH</a:t>
            </a:r>
            <a:endParaRPr sz="120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750" dirty="0">
                <a:solidFill>
                  <a:srgbClr val="854F0A"/>
                </a:solidFill>
                <a:latin typeface="Helvetica"/>
                <a:cs typeface="Helvetica"/>
              </a:rPr>
              <a:t>Framework</a:t>
            </a:r>
            <a:r>
              <a:rPr sz="750" spc="5" dirty="0">
                <a:solidFill>
                  <a:srgbClr val="854F0A"/>
                </a:solidFill>
                <a:latin typeface="Helvetica"/>
                <a:cs typeface="Helvetica"/>
              </a:rPr>
              <a:t> </a:t>
            </a:r>
            <a:r>
              <a:rPr sz="750" dirty="0">
                <a:solidFill>
                  <a:srgbClr val="854F0A"/>
                </a:solidFill>
                <a:latin typeface="Helvetica"/>
                <a:cs typeface="Helvetica"/>
              </a:rPr>
              <a:t>unificante</a:t>
            </a:r>
            <a:r>
              <a:rPr sz="750" spc="5" dirty="0">
                <a:solidFill>
                  <a:srgbClr val="854F0A"/>
                </a:solidFill>
                <a:latin typeface="Helvetica"/>
                <a:cs typeface="Helvetica"/>
              </a:rPr>
              <a:t> </a:t>
            </a:r>
            <a:r>
              <a:rPr sz="750" dirty="0">
                <a:solidFill>
                  <a:srgbClr val="854F0A"/>
                </a:solidFill>
                <a:latin typeface="Helvetica"/>
                <a:cs typeface="Helvetica"/>
              </a:rPr>
              <a:t>della</a:t>
            </a:r>
            <a:r>
              <a:rPr sz="750" spc="5" dirty="0">
                <a:solidFill>
                  <a:srgbClr val="854F0A"/>
                </a:solidFill>
                <a:latin typeface="Helvetica"/>
                <a:cs typeface="Helvetica"/>
              </a:rPr>
              <a:t> </a:t>
            </a:r>
            <a:r>
              <a:rPr sz="750" spc="-20" dirty="0">
                <a:solidFill>
                  <a:srgbClr val="854F0A"/>
                </a:solidFill>
                <a:latin typeface="Helvetica"/>
                <a:cs typeface="Helvetica"/>
              </a:rPr>
              <a:t>tesi</a:t>
            </a:r>
            <a:endParaRPr sz="750">
              <a:latin typeface="Helvetica"/>
              <a:cs typeface="Helvetic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504825" y="9283265"/>
            <a:ext cx="6550659" cy="334010"/>
            <a:chOff x="504825" y="8953065"/>
            <a:chExt cx="6550659" cy="334010"/>
          </a:xfrm>
        </p:grpSpPr>
        <p:sp>
          <p:nvSpPr>
            <p:cNvPr id="106" name="object 106"/>
            <p:cNvSpPr/>
            <p:nvPr/>
          </p:nvSpPr>
          <p:spPr>
            <a:xfrm>
              <a:off x="508000" y="9029699"/>
              <a:ext cx="6544309" cy="254000"/>
            </a:xfrm>
            <a:custGeom>
              <a:avLst/>
              <a:gdLst/>
              <a:ahLst/>
              <a:cxnLst/>
              <a:rect l="l" t="t" r="r" b="b"/>
              <a:pathLst>
                <a:path w="6544309" h="254000">
                  <a:moveTo>
                    <a:pt x="64932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203200"/>
                  </a:lnTo>
                  <a:lnTo>
                    <a:pt x="3988" y="222984"/>
                  </a:lnTo>
                  <a:lnTo>
                    <a:pt x="14869" y="239130"/>
                  </a:lnTo>
                  <a:lnTo>
                    <a:pt x="31015" y="250011"/>
                  </a:lnTo>
                  <a:lnTo>
                    <a:pt x="50800" y="254000"/>
                  </a:lnTo>
                  <a:lnTo>
                    <a:pt x="6493200" y="254000"/>
                  </a:lnTo>
                  <a:lnTo>
                    <a:pt x="6512984" y="250011"/>
                  </a:lnTo>
                  <a:lnTo>
                    <a:pt x="6529130" y="239130"/>
                  </a:lnTo>
                  <a:lnTo>
                    <a:pt x="6540011" y="222984"/>
                  </a:lnTo>
                  <a:lnTo>
                    <a:pt x="6544000" y="203200"/>
                  </a:lnTo>
                  <a:lnTo>
                    <a:pt x="6544000" y="50800"/>
                  </a:lnTo>
                  <a:lnTo>
                    <a:pt x="6540011" y="31015"/>
                  </a:lnTo>
                  <a:lnTo>
                    <a:pt x="6529130" y="14869"/>
                  </a:lnTo>
                  <a:lnTo>
                    <a:pt x="6512984" y="3988"/>
                  </a:lnTo>
                  <a:lnTo>
                    <a:pt x="6493200" y="0"/>
                  </a:lnTo>
                  <a:close/>
                </a:path>
              </a:pathLst>
            </a:custGeom>
            <a:solidFill>
              <a:srgbClr val="F0E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08000" y="9029699"/>
              <a:ext cx="6544309" cy="254000"/>
            </a:xfrm>
            <a:custGeom>
              <a:avLst/>
              <a:gdLst/>
              <a:ahLst/>
              <a:cxnLst/>
              <a:rect l="l" t="t" r="r" b="b"/>
              <a:pathLst>
                <a:path w="6544309" h="254000">
                  <a:moveTo>
                    <a:pt x="50800" y="254000"/>
                  </a:moveTo>
                  <a:lnTo>
                    <a:pt x="6493200" y="254000"/>
                  </a:lnTo>
                  <a:lnTo>
                    <a:pt x="6512984" y="250011"/>
                  </a:lnTo>
                  <a:lnTo>
                    <a:pt x="6529130" y="239130"/>
                  </a:lnTo>
                  <a:lnTo>
                    <a:pt x="6540011" y="222984"/>
                  </a:lnTo>
                  <a:lnTo>
                    <a:pt x="6544000" y="203200"/>
                  </a:lnTo>
                  <a:lnTo>
                    <a:pt x="6544000" y="50800"/>
                  </a:lnTo>
                  <a:lnTo>
                    <a:pt x="6540011" y="31015"/>
                  </a:lnTo>
                  <a:lnTo>
                    <a:pt x="6529130" y="14869"/>
                  </a:lnTo>
                  <a:lnTo>
                    <a:pt x="6512984" y="3988"/>
                  </a:lnTo>
                  <a:lnTo>
                    <a:pt x="64932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203200"/>
                  </a:lnTo>
                  <a:lnTo>
                    <a:pt x="3988" y="222984"/>
                  </a:lnTo>
                  <a:lnTo>
                    <a:pt x="14869" y="239130"/>
                  </a:lnTo>
                  <a:lnTo>
                    <a:pt x="31015" y="250011"/>
                  </a:lnTo>
                  <a:lnTo>
                    <a:pt x="50800" y="254000"/>
                  </a:lnTo>
                  <a:close/>
                </a:path>
              </a:pathLst>
            </a:custGeom>
            <a:ln w="6350">
              <a:solidFill>
                <a:srgbClr val="D3D1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760217" y="8953499"/>
              <a:ext cx="40005" cy="50800"/>
            </a:xfrm>
            <a:custGeom>
              <a:avLst/>
              <a:gdLst/>
              <a:ahLst/>
              <a:cxnLst/>
              <a:rect l="l" t="t" r="r" b="b"/>
              <a:pathLst>
                <a:path w="40004" h="50800">
                  <a:moveTo>
                    <a:pt x="19782" y="0"/>
                  </a:moveTo>
                  <a:lnTo>
                    <a:pt x="19782" y="50800"/>
                  </a:lnTo>
                </a:path>
                <a:path w="40004" h="50800">
                  <a:moveTo>
                    <a:pt x="19782" y="50800"/>
                  </a:moveTo>
                  <a:lnTo>
                    <a:pt x="39565" y="4010"/>
                  </a:lnTo>
                </a:path>
                <a:path w="40004" h="50800">
                  <a:moveTo>
                    <a:pt x="19782" y="50800"/>
                  </a:moveTo>
                  <a:lnTo>
                    <a:pt x="0" y="4010"/>
                  </a:lnTo>
                </a:path>
              </a:pathLst>
            </a:custGeom>
            <a:ln w="8890">
              <a:solidFill>
                <a:srgbClr val="8787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9" name="object 109"/>
          <p:cNvGrpSpPr/>
          <p:nvPr/>
        </p:nvGrpSpPr>
        <p:grpSpPr>
          <a:xfrm>
            <a:off x="501649" y="9766300"/>
            <a:ext cx="6553202" cy="609600"/>
            <a:chOff x="501649" y="9436100"/>
            <a:chExt cx="6553202" cy="609600"/>
          </a:xfrm>
        </p:grpSpPr>
        <p:sp>
          <p:nvSpPr>
            <p:cNvPr id="110" name="object 110"/>
            <p:cNvSpPr/>
            <p:nvPr/>
          </p:nvSpPr>
          <p:spPr>
            <a:xfrm>
              <a:off x="501649" y="9436100"/>
              <a:ext cx="6553201" cy="609600"/>
            </a:xfrm>
            <a:custGeom>
              <a:avLst/>
              <a:gdLst/>
              <a:ahLst/>
              <a:cxnLst/>
              <a:rect l="l" t="t" r="r" b="b"/>
              <a:pathLst>
                <a:path w="6798309" h="609600">
                  <a:moveTo>
                    <a:pt x="669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7976" y="547569"/>
                  </a:lnTo>
                  <a:lnTo>
                    <a:pt x="29738" y="579861"/>
                  </a:lnTo>
                  <a:lnTo>
                    <a:pt x="62030" y="601623"/>
                  </a:lnTo>
                  <a:lnTo>
                    <a:pt x="101600" y="609600"/>
                  </a:lnTo>
                  <a:lnTo>
                    <a:pt x="6696400" y="609600"/>
                  </a:lnTo>
                  <a:lnTo>
                    <a:pt x="6735969" y="601623"/>
                  </a:lnTo>
                  <a:lnTo>
                    <a:pt x="6768261" y="579861"/>
                  </a:lnTo>
                  <a:lnTo>
                    <a:pt x="6790023" y="547569"/>
                  </a:lnTo>
                  <a:lnTo>
                    <a:pt x="6798000" y="508000"/>
                  </a:lnTo>
                  <a:lnTo>
                    <a:pt x="6798000" y="101600"/>
                  </a:lnTo>
                  <a:lnTo>
                    <a:pt x="6790023" y="62030"/>
                  </a:lnTo>
                  <a:lnTo>
                    <a:pt x="6768261" y="29738"/>
                  </a:lnTo>
                  <a:lnTo>
                    <a:pt x="6735969" y="7976"/>
                  </a:lnTo>
                  <a:lnTo>
                    <a:pt x="6696400" y="0"/>
                  </a:lnTo>
                  <a:close/>
                </a:path>
              </a:pathLst>
            </a:custGeom>
            <a:solidFill>
              <a:srgbClr val="F0EF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01651" y="9436100"/>
              <a:ext cx="6553200" cy="609600"/>
            </a:xfrm>
            <a:custGeom>
              <a:avLst/>
              <a:gdLst/>
              <a:ahLst/>
              <a:cxnLst/>
              <a:rect l="l" t="t" r="r" b="b"/>
              <a:pathLst>
                <a:path w="6798309" h="609600">
                  <a:moveTo>
                    <a:pt x="101600" y="609600"/>
                  </a:moveTo>
                  <a:lnTo>
                    <a:pt x="6696400" y="609600"/>
                  </a:lnTo>
                  <a:lnTo>
                    <a:pt x="6735969" y="601623"/>
                  </a:lnTo>
                  <a:lnTo>
                    <a:pt x="6768261" y="579861"/>
                  </a:lnTo>
                  <a:lnTo>
                    <a:pt x="6790023" y="547569"/>
                  </a:lnTo>
                  <a:lnTo>
                    <a:pt x="6798000" y="508000"/>
                  </a:lnTo>
                  <a:lnTo>
                    <a:pt x="6798000" y="101600"/>
                  </a:lnTo>
                  <a:lnTo>
                    <a:pt x="6790023" y="62030"/>
                  </a:lnTo>
                  <a:lnTo>
                    <a:pt x="6768261" y="29738"/>
                  </a:lnTo>
                  <a:lnTo>
                    <a:pt x="6735969" y="7976"/>
                  </a:lnTo>
                  <a:lnTo>
                    <a:pt x="6696400" y="0"/>
                  </a:ln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7976" y="547569"/>
                  </a:lnTo>
                  <a:lnTo>
                    <a:pt x="29738" y="579861"/>
                  </a:lnTo>
                  <a:lnTo>
                    <a:pt x="62030" y="601623"/>
                  </a:lnTo>
                  <a:lnTo>
                    <a:pt x="101600" y="609600"/>
                  </a:lnTo>
                  <a:close/>
                </a:path>
              </a:pathLst>
            </a:custGeom>
            <a:ln w="6350">
              <a:solidFill>
                <a:srgbClr val="D3D1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1082320" y="9442450"/>
            <a:ext cx="5395595" cy="835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App.</a:t>
            </a:r>
            <a:r>
              <a:rPr sz="650" spc="-1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A: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Implementativi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·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App.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B: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Dataset</a:t>
            </a:r>
            <a:r>
              <a:rPr sz="650" spc="-1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·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App.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C: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Survey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·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App.</a:t>
            </a:r>
            <a:r>
              <a:rPr sz="650" spc="-10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D: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Pubblicazioni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·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App.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E: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spc="-10" dirty="0">
                <a:solidFill>
                  <a:srgbClr val="5E5D59"/>
                </a:solidFill>
                <a:latin typeface="Helvetica"/>
                <a:cs typeface="Helvetica"/>
              </a:rPr>
              <a:t>Amministrativi</a:t>
            </a:r>
            <a:endParaRPr sz="65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65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650" dirty="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dirty="0">
                <a:solidFill>
                  <a:srgbClr val="444441"/>
                </a:solidFill>
                <a:latin typeface="Helvetica"/>
                <a:cs typeface="Helvetica"/>
              </a:rPr>
              <a:t>Portfolio</a:t>
            </a:r>
            <a:r>
              <a:rPr sz="800" b="1" spc="-20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800" b="1" dirty="0">
                <a:solidFill>
                  <a:srgbClr val="444441"/>
                </a:solidFill>
                <a:latin typeface="Helvetica"/>
                <a:cs typeface="Helvetica"/>
              </a:rPr>
              <a:t>scientifico:</a:t>
            </a:r>
            <a:r>
              <a:rPr sz="800" b="1" spc="-20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800" b="1" dirty="0">
                <a:solidFill>
                  <a:srgbClr val="444441"/>
                </a:solidFill>
                <a:latin typeface="Helvetica"/>
                <a:cs typeface="Helvetica"/>
              </a:rPr>
              <a:t>8</a:t>
            </a:r>
            <a:r>
              <a:rPr sz="800" b="1" spc="-15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800" b="1" dirty="0">
                <a:solidFill>
                  <a:srgbClr val="444441"/>
                </a:solidFill>
                <a:latin typeface="Helvetica"/>
                <a:cs typeface="Helvetica"/>
              </a:rPr>
              <a:t>paper</a:t>
            </a:r>
            <a:r>
              <a:rPr sz="800" b="1" spc="-20" dirty="0">
                <a:solidFill>
                  <a:srgbClr val="444441"/>
                </a:solidFill>
                <a:latin typeface="Helvetica"/>
                <a:cs typeface="Helvetica"/>
              </a:rPr>
              <a:t> </a:t>
            </a:r>
            <a:r>
              <a:rPr sz="800" b="1" spc="-10" dirty="0">
                <a:solidFill>
                  <a:srgbClr val="444441"/>
                </a:solidFill>
                <a:latin typeface="Helvetica"/>
                <a:cs typeface="Helvetica"/>
              </a:rPr>
              <a:t>attivi</a:t>
            </a:r>
            <a:endParaRPr sz="800" dirty="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P-M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(MDPI 2024, 21 cit.) ·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P-IT (ItAIS 2025) · </a:t>
            </a:r>
            <a:r>
              <a:rPr sz="650" spc="-10" dirty="0">
                <a:solidFill>
                  <a:srgbClr val="5E5D59"/>
                </a:solidFill>
                <a:latin typeface="Helvetica"/>
                <a:cs typeface="Helvetica"/>
              </a:rPr>
              <a:t>P-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C1, </a:t>
            </a:r>
            <a:r>
              <a:rPr sz="650" spc="-10" dirty="0">
                <a:solidFill>
                  <a:srgbClr val="5E5D59"/>
                </a:solidFill>
                <a:latin typeface="Helvetica"/>
                <a:cs typeface="Helvetica"/>
              </a:rPr>
              <a:t>P-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C2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(CIDE 2025) · </a:t>
            </a:r>
            <a:r>
              <a:rPr sz="650" spc="-10" dirty="0">
                <a:solidFill>
                  <a:srgbClr val="5E5D59"/>
                </a:solidFill>
                <a:latin typeface="Helvetica"/>
                <a:cs typeface="Helvetica"/>
              </a:rPr>
              <a:t>FL-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EHDS/FLICS (capstone, 6.004+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dirty="0">
                <a:solidFill>
                  <a:srgbClr val="5E5D59"/>
                </a:solidFill>
                <a:latin typeface="Helvetica"/>
                <a:cs typeface="Helvetica"/>
              </a:rPr>
              <a:t>exp.) · ICID · ICSIS ·</a:t>
            </a:r>
            <a:r>
              <a:rPr sz="650" spc="-5" dirty="0">
                <a:solidFill>
                  <a:srgbClr val="5E5D59"/>
                </a:solidFill>
                <a:latin typeface="Helvetica"/>
                <a:cs typeface="Helvetica"/>
              </a:rPr>
              <a:t> </a:t>
            </a:r>
            <a:r>
              <a:rPr sz="650" spc="-10" dirty="0">
                <a:solidFill>
                  <a:srgbClr val="5E5D59"/>
                </a:solidFill>
                <a:latin typeface="Helvetica"/>
                <a:cs typeface="Helvetica"/>
              </a:rPr>
              <a:t>IFKAD/FedHR5.0</a:t>
            </a:r>
            <a:endParaRPr sz="650" dirty="0">
              <a:latin typeface="Helvetica"/>
              <a:cs typeface="Helvetica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Software:</a:t>
            </a:r>
            <a:r>
              <a:rPr sz="650" i="1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FLOPBG</a:t>
            </a:r>
            <a:r>
              <a:rPr sz="650" i="1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(full-stack,</a:t>
            </a:r>
            <a:r>
              <a:rPr sz="650" i="1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11</a:t>
            </a:r>
            <a:r>
              <a:rPr sz="650" i="1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dataset)</a:t>
            </a:r>
            <a:r>
              <a:rPr sz="650" i="1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·</a:t>
            </a:r>
            <a:r>
              <a:rPr sz="650" i="1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BLEKFL2</a:t>
            </a:r>
            <a:r>
              <a:rPr sz="650" i="1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(17+</a:t>
            </a:r>
            <a:r>
              <a:rPr sz="650" i="1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alg.,</a:t>
            </a:r>
            <a:r>
              <a:rPr sz="650" i="1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vis.</a:t>
            </a:r>
            <a:r>
              <a:rPr sz="650" i="1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3D)</a:t>
            </a:r>
            <a:r>
              <a:rPr sz="650" i="1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·</a:t>
            </a:r>
            <a:r>
              <a:rPr sz="650" i="1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Questionario</a:t>
            </a:r>
            <a:r>
              <a:rPr sz="650" i="1" spc="-10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SSN</a:t>
            </a:r>
            <a:r>
              <a:rPr sz="650" i="1" spc="-5" dirty="0">
                <a:solidFill>
                  <a:srgbClr val="878780"/>
                </a:solidFill>
                <a:latin typeface="Helvetica"/>
                <a:cs typeface="Helvetica"/>
              </a:rPr>
              <a:t> </a:t>
            </a:r>
            <a:r>
              <a:rPr sz="650" i="1" dirty="0">
                <a:solidFill>
                  <a:srgbClr val="878780"/>
                </a:solidFill>
                <a:latin typeface="Helvetica"/>
                <a:cs typeface="Helvetica"/>
              </a:rPr>
              <a:t>(23</a:t>
            </a:r>
            <a:r>
              <a:rPr sz="650" i="1" spc="-10" dirty="0">
                <a:solidFill>
                  <a:srgbClr val="878780"/>
                </a:solidFill>
                <a:latin typeface="Helvetica"/>
                <a:cs typeface="Helvetica"/>
              </a:rPr>
              <a:t> ospedali)</a:t>
            </a:r>
            <a:endParaRPr sz="65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320</Words>
  <Application>Microsoft Macintosh PowerPoint</Application>
  <PresentationFormat>Personalizzato</PresentationFormat>
  <Paragraphs>64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Calibri</vt:lpstr>
      <vt:lpstr>Helvetica</vt:lpstr>
      <vt:lpstr>Symbol</vt:lpstr>
      <vt:lpstr>Times New Roman</vt:lpstr>
      <vt:lpstr>Office Theme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Fabio Liberti</cp:lastModifiedBy>
  <cp:revision>3</cp:revision>
  <dcterms:created xsi:type="dcterms:W3CDTF">2026-03-16T14:32:29Z</dcterms:created>
  <dcterms:modified xsi:type="dcterms:W3CDTF">2026-03-16T14:51:23Z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2026-03-16T00:00:00Z</vt:filetime>
  </property>
  <property fmtid="{D5CDD505-2E9C-101B-9397-08002B2CF9AE}" pid="5" name="Producer">
    <vt:lpwstr>ReportLab PDF Library - (opensource)</vt:lpwstr>
  </property>
</Properties>
</file>